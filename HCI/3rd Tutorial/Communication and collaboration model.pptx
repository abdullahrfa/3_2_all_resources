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80" r:id="rId4"/>
    <p:sldId id="294" r:id="rId5"/>
    <p:sldId id="295" r:id="rId6"/>
    <p:sldId id="296" r:id="rId7"/>
    <p:sldId id="258" r:id="rId8"/>
    <p:sldId id="281" r:id="rId9"/>
    <p:sldId id="282" r:id="rId10"/>
    <p:sldId id="259" r:id="rId11"/>
    <p:sldId id="286" r:id="rId12"/>
    <p:sldId id="261" r:id="rId13"/>
    <p:sldId id="283" r:id="rId14"/>
    <p:sldId id="284" r:id="rId15"/>
    <p:sldId id="285" r:id="rId16"/>
    <p:sldId id="264" r:id="rId17"/>
    <p:sldId id="287" r:id="rId18"/>
    <p:sldId id="288" r:id="rId19"/>
    <p:sldId id="266" r:id="rId20"/>
    <p:sldId id="267" r:id="rId21"/>
    <p:sldId id="268" r:id="rId22"/>
    <p:sldId id="289" r:id="rId23"/>
    <p:sldId id="290" r:id="rId24"/>
    <p:sldId id="291" r:id="rId25"/>
    <p:sldId id="292" r:id="rId26"/>
    <p:sldId id="293" r:id="rId27"/>
    <p:sldId id="271" r:id="rId28"/>
    <p:sldId id="272" r:id="rId29"/>
    <p:sldId id="277" r:id="rId30"/>
    <p:sldId id="278" r:id="rId31"/>
    <p:sldId id="27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1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4ECE-9962-423A-9031-69503326E27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08C97-49D6-4A84-8510-D918DF9A1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09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4ECE-9962-423A-9031-69503326E27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08C97-49D6-4A84-8510-D918DF9A1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348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4ECE-9962-423A-9031-69503326E27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08C97-49D6-4A84-8510-D918DF9A1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22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4ECE-9962-423A-9031-69503326E27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08C97-49D6-4A84-8510-D918DF9A1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10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4ECE-9962-423A-9031-69503326E27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08C97-49D6-4A84-8510-D918DF9A1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98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4ECE-9962-423A-9031-69503326E27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08C97-49D6-4A84-8510-D918DF9A1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6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4ECE-9962-423A-9031-69503326E27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08C97-49D6-4A84-8510-D918DF9A1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269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4ECE-9962-423A-9031-69503326E27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08C97-49D6-4A84-8510-D918DF9A1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653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4ECE-9962-423A-9031-69503326E27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08C97-49D6-4A84-8510-D918DF9A1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94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4ECE-9962-423A-9031-69503326E27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08C97-49D6-4A84-8510-D918DF9A1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71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4ECE-9962-423A-9031-69503326E27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08C97-49D6-4A84-8510-D918DF9A1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053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14ECE-9962-423A-9031-69503326E27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08C97-49D6-4A84-8510-D918DF9A1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065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640080"/>
            <a:ext cx="7449590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865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collaboration models and theory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57222" y="2127712"/>
            <a:ext cx="761425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Computer Systems Have Group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applies to all systems, not just groupware.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Ignoring This Leads to System Failures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Multiple Levels – From Minutiae to Large-Scale Context: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Face-to-face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Text-based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collaboration</a:t>
            </a:r>
          </a:p>
        </p:txBody>
      </p:sp>
    </p:spTree>
    <p:extLst>
      <p:ext uri="{BB962C8B-B14F-4D97-AF65-F5344CB8AC3E}">
        <p14:creationId xmlns:p14="http://schemas.microsoft.com/office/powerpoint/2010/main" val="3830837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collaboration models and theory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Computer Systems Have Group Impact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systems influence group dynamics, whether they are explicitly designed for collaboration (e.g., groupware) or not. Even individual applications affect teamwork, workflow, and communication.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Ignoring This Leads to System Failures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to consider group interactions can result in: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user adoption due to ineffective collaboration features.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Miscommunication among users, reducing efficiency.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bottlenecks caused by rigid or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intutive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532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collaboration models and theory</a:t>
            </a:r>
            <a:endParaRPr lang="en-US" sz="3200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757518" y="1684902"/>
            <a:ext cx="10349753" cy="518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Computer Systems Affect Groups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statement asserts that computer systems always have an influence on group interactions, whether or not they are intentionally designed for collaboration.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Explicitly Collaborative Systems (Groupware)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are specifically designed to facilitate teamwork, such as groupware (e.g., Microsoft Teams, Slack, Google Docs). These tools directly shape communication, coordination, and productivity.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Applications Also Influence Group Dynamics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software meant for solo use can affect teamwork. For example: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word processor (like Microsoft Word) can impact how documents are shared and edited within a team.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management tool (like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Trello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Asana) structures workflow and delegation.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personal productivity software (like note-taking apps) can influence group efficiency if individuals bring insights from them into discussions.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663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Ignoring Group Dynamics Leads to System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system designers fail to account for group interactions, the following issues can arise: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User Adoption Due to Ineffective Collaboration Features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system lacks features that support teamwork (e.g., real-time editing, version control, or easy file sharing), users may avoid or resist using it.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project management tool without notifications or task delegation options will struggle to be useful in a team setting.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Miscommunication Among Users, Reducing Efficiency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system does not facilitate clear and effective communication, misunderstandings can occur, leading to mistakes and delays.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healthcare system that doesn’t allow nurses and doctors to leave real-time updates may cause critical patient information to be missed.</a:t>
            </a:r>
          </a:p>
        </p:txBody>
      </p:sp>
    </p:spTree>
    <p:extLst>
      <p:ext uri="{BB962C8B-B14F-4D97-AF65-F5344CB8AC3E}">
        <p14:creationId xmlns:p14="http://schemas.microsoft.com/office/powerpoint/2010/main" val="3981777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Ignoring Group Dynamics Leads to System Failures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Bottlenecks Due to Rigid or Non-Intuitive Design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system enforces a rigid workflow that doesn’t match the real needs of users, teams may struggle to complete tasks efficiently.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customer service ticketing system that requires unnecessary approvals may slow down response times.</a:t>
            </a:r>
          </a:p>
        </p:txBody>
      </p:sp>
    </p:spTree>
    <p:extLst>
      <p:ext uri="{BB962C8B-B14F-4D97-AF65-F5344CB8AC3E}">
        <p14:creationId xmlns:p14="http://schemas.microsoft.com/office/powerpoint/2010/main" val="3230305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Need to Understand Normal Human Communication – Why?</a:t>
            </a:r>
          </a:p>
          <a:p>
            <a:pPr marL="0" indent="0">
              <a:buNone/>
            </a:pPr>
            <a:r>
              <a:rPr lang="en-US" b="1" dirty="0"/>
              <a:t>Face-to-Face Communication</a:t>
            </a:r>
          </a:p>
          <a:p>
            <a:r>
              <a:rPr lang="en-US" dirty="0"/>
              <a:t>Involves eyes, face, and body gestures.</a:t>
            </a:r>
          </a:p>
          <a:p>
            <a:r>
              <a:rPr lang="en-US" dirty="0"/>
              <a:t>Most </a:t>
            </a:r>
            <a:r>
              <a:rPr lang="en-US" b="1" dirty="0"/>
              <a:t>fundamental</a:t>
            </a:r>
            <a:r>
              <a:rPr lang="en-US" dirty="0"/>
              <a:t> and </a:t>
            </a:r>
            <a:r>
              <a:rPr lang="en-US" b="1" dirty="0"/>
              <a:t>subtle</a:t>
            </a:r>
            <a:r>
              <a:rPr lang="en-US" dirty="0"/>
              <a:t> form of communication.</a:t>
            </a:r>
          </a:p>
          <a:p>
            <a:r>
              <a:rPr lang="en-US" dirty="0"/>
              <a:t>Influenced by the physical environment.</a:t>
            </a:r>
          </a:p>
          <a:p>
            <a:pPr marL="0" indent="0">
              <a:buNone/>
            </a:pPr>
            <a:r>
              <a:rPr lang="en-US" b="1" dirty="0"/>
              <a:t>Conversation</a:t>
            </a:r>
          </a:p>
          <a:p>
            <a:r>
              <a:rPr lang="en-US" dirty="0"/>
              <a:t>Conversations can be analyzed to establish their detailed structure</a:t>
            </a:r>
            <a:r>
              <a:rPr lang="en-US" dirty="0" smtClean="0"/>
              <a:t>.</a:t>
            </a:r>
          </a:p>
          <a:p>
            <a:r>
              <a:rPr lang="en-US" dirty="0"/>
              <a:t>Spoken or written exchanges, structured or unstructured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Digital </a:t>
            </a:r>
            <a:r>
              <a:rPr lang="en-US" dirty="0"/>
              <a:t>tools like VoIP, chat applications, and collaborative forums support this</a:t>
            </a:r>
            <a:r>
              <a:rPr lang="en-US" dirty="0" smtClean="0"/>
              <a:t>.</a:t>
            </a:r>
          </a:p>
          <a:p>
            <a:r>
              <a:rPr lang="en-US" dirty="0" smtClean="0"/>
              <a:t>Poorly </a:t>
            </a:r>
            <a:r>
              <a:rPr lang="en-US" dirty="0"/>
              <a:t>designed systems may hinder discussion flow or misinterpret user intent</a:t>
            </a:r>
            <a:r>
              <a:rPr lang="en-US" dirty="0" smtClean="0"/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621903"/>
            <a:ext cx="92721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collaboration models and theory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91106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collaboration models and theory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Text-Based Communication</a:t>
            </a:r>
          </a:p>
          <a:p>
            <a:r>
              <a:rPr lang="en-US" dirty="0"/>
              <a:t>The same principles can be applied to text-based conversation.</a:t>
            </a:r>
          </a:p>
          <a:p>
            <a:r>
              <a:rPr lang="en-US" dirty="0"/>
              <a:t>Slower pace of interaction.</a:t>
            </a:r>
          </a:p>
          <a:p>
            <a:r>
              <a:rPr lang="en-US" dirty="0"/>
              <a:t>Less context to clarify expressions.</a:t>
            </a:r>
          </a:p>
          <a:p>
            <a:r>
              <a:rPr lang="en-US" dirty="0"/>
              <a:t>Reduced feedback in conversations.</a:t>
            </a:r>
          </a:p>
          <a:p>
            <a:r>
              <a:rPr lang="en-US" dirty="0"/>
              <a:t>Easier to review and reference later.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61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collaboration models and theory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Encompasses task management, shared workspaces, and decision-making tools.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include project management software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Trello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Asana), version control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cloud collaboration (Google Docs, Microsoft Teams).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 include version conflicts, access control, and integration with other tools.</a:t>
            </a:r>
          </a:p>
        </p:txBody>
      </p:sp>
    </p:spTree>
    <p:extLst>
      <p:ext uri="{BB962C8B-B14F-4D97-AF65-F5344CB8AC3E}">
        <p14:creationId xmlns:p14="http://schemas.microsoft.com/office/powerpoint/2010/main" val="3441760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Working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complex than individual work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Coordination among multiple people introduces challenges such as communication gaps, task dependencies, and differing work styles.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are harder to control and record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single-person studies, group interactions involve unpredictable variables, making it challenging to ensure consistency and repeatability.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 studies must consider the social situation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like hierarchy, cultural norms, and team dynamics influence how people collaborate.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Seen as a paradigm for computer-mediated communication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collaborative tools (e.g., Slack, Microsoft Teams, Zoom) are designed to facilitate group work, reflecting the shift from face-to-face to digital communication.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077506" y="1010093"/>
            <a:ext cx="89290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collaboration models and theory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86633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Nature of Humans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slide explains the inherently social nature of humans and the need for interaction and communication.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Humans as Social Beings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Humans are naturally social creatures, often referred to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animals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Living and Working Together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live, work, eat, and play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groups.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function alone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effectively.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mention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punishments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suggests that isolation may be used as a form of social control.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Interactive Systems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humans rely on social interactions, they must develop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facilitate and extend these interactions.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include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collaboration tools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2312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8663" y="1202170"/>
            <a:ext cx="7589039" cy="459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976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collaboration models and theory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530751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Face-to-Face Communication: Transfer Effects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slide explores how communication habits and expectations from face-to-face interactions influence electronic communication.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Carrying Expectations into Electronic Media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naturally bring their communication habits into digital spaces.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meaning they adjust their behavior to suit new communication methods.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walkie-talkie communication, people use "over" to indicate turn-taking, adapting to the medium's constraints.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24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collaboration models and theory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Expecting Existing Norms to Apply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assume that familiar cultural communication norms still apply in digital interactions.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includes the way they greet and interact with others.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cultural greetings: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"Hello" (English)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"Slam" (short for "As-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salamu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alaykum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in Arabic)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(Japanese phone greeting)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Misinterpretation Leading to Perceived Rudeness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familiar communication norms fail in electronic media, people may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misinterpret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as rudeness.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colleague’s delayed response, lack of customary greetings, or abrupt messages may be seen as impolite rather than a limitation of the medium.</a:t>
            </a:r>
          </a:p>
        </p:txBody>
      </p:sp>
    </p:spTree>
    <p:extLst>
      <p:ext uri="{BB962C8B-B14F-4D97-AF65-F5344CB8AC3E}">
        <p14:creationId xmlns:p14="http://schemas.microsoft.com/office/powerpoint/2010/main" val="1021021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collaboration models and theory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66014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Personal Space &amp; Video Communication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face-to-face communication,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space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crucial.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communication can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disrupt this sense of distance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interactions feel unnatural or intrusive.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"glass wall" effect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(the screen acting as a psychological barrier) helps maintain some level of comfort.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slide highlights how our real-world communication habits influence and sometimes conflict with electronic media, leading to both adaptation and misunderstandings.</a:t>
            </a:r>
          </a:p>
        </p:txBody>
      </p:sp>
    </p:spTree>
    <p:extLst>
      <p:ext uri="{BB962C8B-B14F-4D97-AF65-F5344CB8AC3E}">
        <p14:creationId xmlns:p14="http://schemas.microsoft.com/office/powerpoint/2010/main" val="440486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8773" y="969413"/>
            <a:ext cx="7494507" cy="496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020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Eye Contact in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smtClean="0"/>
              <a:t>To </a:t>
            </a:r>
            <a:r>
              <a:rPr lang="en-US" b="1" dirty="0"/>
              <a:t>Convey Interest and Establish Social Presence</a:t>
            </a:r>
            <a:endParaRPr lang="en-US" dirty="0"/>
          </a:p>
          <a:p>
            <a:pPr lvl="1"/>
            <a:r>
              <a:rPr lang="en-US" dirty="0"/>
              <a:t>Eye contact is a crucial nonverbal communication tool.</a:t>
            </a:r>
          </a:p>
          <a:p>
            <a:pPr lvl="1"/>
            <a:r>
              <a:rPr lang="en-US" dirty="0"/>
              <a:t>It helps demonstrate engagement, attentiveness, and sincerity in conversations.</a:t>
            </a:r>
          </a:p>
          <a:p>
            <a:pPr lvl="1"/>
            <a:r>
              <a:rPr lang="en-US" dirty="0"/>
              <a:t>In face-to-face interactions, maintaining appropriate eye contact can build trust and rapport.</a:t>
            </a:r>
          </a:p>
          <a:p>
            <a:r>
              <a:rPr lang="en-US" b="1" dirty="0"/>
              <a:t>Video May Spoil Direct Eye Contact</a:t>
            </a:r>
            <a:endParaRPr lang="en-US" dirty="0"/>
          </a:p>
          <a:p>
            <a:pPr lvl="1"/>
            <a:r>
              <a:rPr lang="en-US" dirty="0"/>
              <a:t>In video calls, eye contact is often disrupted because people look at the screen instead of the camera.</a:t>
            </a:r>
          </a:p>
          <a:p>
            <a:pPr lvl="1"/>
            <a:r>
              <a:rPr lang="en-US" dirty="0"/>
              <a:t>This can make it seem like a person is not fully engaged or avoiding eye contact.</a:t>
            </a:r>
          </a:p>
          <a:p>
            <a:pPr lvl="1"/>
            <a:r>
              <a:rPr lang="en-US" dirty="0"/>
              <a:t>Some platforms use AI-driven tools to correct gaze direction, but it may still feel unnatural.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250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Eye Contact in Communication</a:t>
            </a:r>
            <a:endParaRPr 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4"/>
            <a:ext cx="928058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Quality Video is Better Than Audio-Only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 if video quality is low, having a visual element is better than relying solely on audio.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Seeing facial expressions, gestures, and body language adds important context to communication.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helps create a sense of presence and connection, making interactions more personal.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Thankyou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"Thank you"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"Thank you" (two words) is the correct form in formal writing and standard English.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Thankyou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(one word) is often used informally but is generally considered incorrect in formal contexts.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distinction may be highlighted to emphasize the importance of correct language use in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592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1811" y="778221"/>
            <a:ext cx="7799764" cy="463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055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9343" y="994352"/>
            <a:ext cx="7086671" cy="487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304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6306" y="761595"/>
            <a:ext cx="7230944" cy="480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474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 Channels - Media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Restricting </a:t>
            </a:r>
            <a:r>
              <a:rPr lang="en-US" b="1" dirty="0"/>
              <a:t>media restricts back channels</a:t>
            </a:r>
            <a:endParaRPr lang="en-US" dirty="0"/>
          </a:p>
          <a:p>
            <a:r>
              <a:rPr lang="en-US" b="1" dirty="0"/>
              <a:t>Video</a:t>
            </a:r>
            <a:r>
              <a:rPr lang="en-US" dirty="0"/>
              <a:t> → Loss of body language</a:t>
            </a:r>
          </a:p>
          <a:p>
            <a:r>
              <a:rPr lang="en-US" b="1" dirty="0"/>
              <a:t>Audio</a:t>
            </a:r>
            <a:r>
              <a:rPr lang="en-US" dirty="0"/>
              <a:t> → Loss of facial expression</a:t>
            </a:r>
          </a:p>
          <a:p>
            <a:r>
              <a:rPr lang="en-US" b="1" dirty="0"/>
              <a:t>Half duplex</a:t>
            </a:r>
            <a:r>
              <a:rPr lang="en-US" dirty="0"/>
              <a:t> → Lose most voice back-channel responses (</a:t>
            </a:r>
            <a:r>
              <a:rPr lang="en-US" i="1" dirty="0"/>
              <a:t>e.g., walkie-talkie</a:t>
            </a:r>
            <a:r>
              <a:rPr lang="en-US" dirty="0"/>
              <a:t>)</a:t>
            </a:r>
          </a:p>
          <a:p>
            <a:r>
              <a:rPr lang="en-US" b="1" dirty="0"/>
              <a:t>Text-based</a:t>
            </a:r>
            <a:r>
              <a:rPr lang="en-US" dirty="0"/>
              <a:t> → Nothing left!</a:t>
            </a:r>
          </a:p>
        </p:txBody>
      </p:sp>
    </p:spTree>
    <p:extLst>
      <p:ext uri="{BB962C8B-B14F-4D97-AF65-F5344CB8AC3E}">
        <p14:creationId xmlns:p14="http://schemas.microsoft.com/office/powerpoint/2010/main" val="3586158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 Channels - Media Effects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Channels in Communication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channels are nonverbal or verbal cues (e.g., nodding, "mm-hmm," facial expressions) that show engagement in a conversation.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Restricting communication media limits these cues, making interactions feel less natural.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 Limitations on Back Channels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While it provides visual interaction, it limits subtle physical cues like posture or gestures.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Removes visual back channels, making it harder to interpret emotions or engagement.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Half Duplex (e.g., Walkie-Talkie)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Only one person speaks at a time, eliminating natural interruptions and real-time feedback.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Text-Based (e.g., SMS, chat)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Completely removes nonverbal communication, making tone and intent harder to interpret.</a:t>
            </a:r>
          </a:p>
        </p:txBody>
      </p:sp>
    </p:spTree>
    <p:extLst>
      <p:ext uri="{BB962C8B-B14F-4D97-AF65-F5344CB8AC3E}">
        <p14:creationId xmlns:p14="http://schemas.microsoft.com/office/powerpoint/2010/main" val="1222389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 Channels - Media Effects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"Later </a:t>
            </a:r>
            <a:r>
              <a:rPr lang="en-US" b="1" dirty="0" err="1"/>
              <a:t>vs</a:t>
            </a:r>
            <a:r>
              <a:rPr lang="en-US" b="1" dirty="0"/>
              <a:t> SMS"</a:t>
            </a:r>
            <a:endParaRPr lang="en-US" dirty="0"/>
          </a:p>
          <a:p>
            <a:r>
              <a:rPr lang="en-US" dirty="0"/>
              <a:t>Possibly refers to the difference between a delayed response (later) versus an instant message (SMS).</a:t>
            </a:r>
          </a:p>
          <a:p>
            <a:r>
              <a:rPr lang="en-US" dirty="0"/>
              <a:t>SMS/text lacks real-time engagement, making back-channel feedback impossible.</a:t>
            </a:r>
          </a:p>
        </p:txBody>
      </p:sp>
    </p:spTree>
    <p:extLst>
      <p:ext uri="{BB962C8B-B14F-4D97-AF65-F5344CB8AC3E}">
        <p14:creationId xmlns:p14="http://schemas.microsoft.com/office/powerpoint/2010/main" val="1776804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 Channels and Turn-Taking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meeting: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 offers the floor (fraction of a second gap)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Listener requests the floor (facial expression, small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noise)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Grunts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‘um’s and ‘ah’s can be used by: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Listener to claim the floor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 to hold the floor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but often too quiet for half-duplex channels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Trans-continental conferences – special problem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Lag can exceed the turn-taking gap </a:t>
            </a:r>
          </a:p>
          <a:p>
            <a:pPr lvl="1"/>
            <a:r>
              <a:rPr lang="en-US" dirty="0"/>
              <a:t>… leads to a monologue!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9144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 Channels and Turn-Taking</a:t>
            </a:r>
            <a:endParaRPr 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417299"/>
            <a:ext cx="10515600" cy="479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Turn-Taking in Conversations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spoken communication, people naturally take turns speaking.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speaker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floor by pausing slightly.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listener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floor through subtle cues like facial expressions, small noises ("mm-hmm"), or slight movements.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 of Back-Channel Noises ("um", "ah")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Listeners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these sounds to signal they want to speak.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Speakers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them to indicate they are still thinking and wish to continue speaking.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However, these cues can be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 quiet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certain communication technologies (e.g., half-duplex systems like walkie-talkies), leading to disrupted turn-taking.</a:t>
            </a:r>
          </a:p>
          <a:p>
            <a:pPr marL="0" indent="0">
              <a:buNone/>
            </a:pPr>
            <a:r>
              <a:rPr lang="en-US" sz="1800" b="1" dirty="0"/>
              <a:t>Challenges in Remote Communication (e.g., International Video Calls)</a:t>
            </a:r>
            <a:endParaRPr lang="en-US" sz="1800" dirty="0"/>
          </a:p>
          <a:p>
            <a:r>
              <a:rPr lang="en-US" sz="1800" b="1" dirty="0"/>
              <a:t>Lag in transmission</a:t>
            </a:r>
            <a:r>
              <a:rPr lang="en-US" sz="1800" dirty="0"/>
              <a:t> can cause delays, making natural turn-taking difficult.</a:t>
            </a:r>
          </a:p>
          <a:p>
            <a:r>
              <a:rPr lang="en-US" sz="1800" dirty="0"/>
              <a:t>If a gap is too long, a speaker may assume no one else wants to talk and continue speaking, leading to an unintentional monologue.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5721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0631" y="994352"/>
            <a:ext cx="6780967" cy="472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2176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7557" y="961101"/>
            <a:ext cx="7213767" cy="492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1787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8471" y="661842"/>
            <a:ext cx="7266121" cy="491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518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2221" y="986039"/>
            <a:ext cx="7699118" cy="492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230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2780" y="877975"/>
            <a:ext cx="6617800" cy="43513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776" y="5229313"/>
            <a:ext cx="7338510" cy="80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0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1840</Words>
  <Application>Microsoft Office PowerPoint</Application>
  <PresentationFormat>Widescreen</PresentationFormat>
  <Paragraphs>167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Communication and collaboration models and theory</vt:lpstr>
      <vt:lpstr>Communication and collaboration models and theory</vt:lpstr>
      <vt:lpstr>Communication and collaboration models and theory</vt:lpstr>
      <vt:lpstr>Why Ignoring Group Dynamics Leads to System Failures</vt:lpstr>
      <vt:lpstr>Why Ignoring Group Dynamics Leads to System Failures</vt:lpstr>
      <vt:lpstr>PowerPoint Presentation</vt:lpstr>
      <vt:lpstr>Communication and collaboration models and theory</vt:lpstr>
      <vt:lpstr>Communication and collaboration models and theory</vt:lpstr>
      <vt:lpstr>PowerPoint Presentation</vt:lpstr>
      <vt:lpstr>Social Nature of Humans</vt:lpstr>
      <vt:lpstr>PowerPoint Presentation</vt:lpstr>
      <vt:lpstr>Communication and collaboration models and theory </vt:lpstr>
      <vt:lpstr>Communication and collaboration models and theory</vt:lpstr>
      <vt:lpstr>Communication and collaboration models and theory</vt:lpstr>
      <vt:lpstr>PowerPoint Presentation</vt:lpstr>
      <vt:lpstr>Eye Contact in Communication</vt:lpstr>
      <vt:lpstr>Eye Contact in Communication</vt:lpstr>
      <vt:lpstr>PowerPoint Presentation</vt:lpstr>
      <vt:lpstr>PowerPoint Presentation</vt:lpstr>
      <vt:lpstr>PowerPoint Presentation</vt:lpstr>
      <vt:lpstr>Back Channels - Media Effects</vt:lpstr>
      <vt:lpstr>Back Channels - Media Effects</vt:lpstr>
      <vt:lpstr>Back Channels - Media Effects</vt:lpstr>
      <vt:lpstr>Back Channels and Turn-Taking</vt:lpstr>
      <vt:lpstr>Back Channels and Turn-Taking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CSEJU</dc:creator>
  <cp:lastModifiedBy>Microsoft account</cp:lastModifiedBy>
  <cp:revision>20</cp:revision>
  <dcterms:created xsi:type="dcterms:W3CDTF">2024-01-29T07:37:04Z</dcterms:created>
  <dcterms:modified xsi:type="dcterms:W3CDTF">2025-03-19T16:51:19Z</dcterms:modified>
</cp:coreProperties>
</file>