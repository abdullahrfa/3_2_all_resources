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61" r:id="rId4"/>
    <p:sldId id="258" r:id="rId5"/>
    <p:sldId id="259" r:id="rId6"/>
    <p:sldId id="260" r:id="rId7"/>
    <p:sldId id="277" r:id="rId8"/>
    <p:sldId id="278" r:id="rId9"/>
    <p:sldId id="279" r:id="rId10"/>
    <p:sldId id="262" r:id="rId11"/>
    <p:sldId id="273" r:id="rId12"/>
    <p:sldId id="274" r:id="rId13"/>
    <p:sldId id="263" r:id="rId14"/>
    <p:sldId id="275" r:id="rId15"/>
    <p:sldId id="276" r:id="rId16"/>
    <p:sldId id="264" r:id="rId17"/>
    <p:sldId id="265" r:id="rId18"/>
    <p:sldId id="266" r:id="rId19"/>
    <p:sldId id="289" r:id="rId20"/>
    <p:sldId id="290" r:id="rId21"/>
    <p:sldId id="291" r:id="rId22"/>
    <p:sldId id="267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68" r:id="rId31"/>
    <p:sldId id="269" r:id="rId32"/>
    <p:sldId id="287" r:id="rId33"/>
    <p:sldId id="288" r:id="rId34"/>
    <p:sldId id="270" r:id="rId35"/>
    <p:sldId id="271" r:id="rId36"/>
    <p:sldId id="272" r:id="rId37"/>
    <p:sldId id="293" r:id="rId38"/>
    <p:sldId id="294" r:id="rId39"/>
    <p:sldId id="295" r:id="rId4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itNAdnJmewx8QbmBYeZpdswOjo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74854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7304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1164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3767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2360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0035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5049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9986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6603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6015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49125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5019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285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20772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78561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44526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97026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075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iscrete_event_dynamic_syste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hyperlink" Target="https://en.wikipedia.org/wiki/Bipartite_graph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gif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Diagrammatic Dialog Design Notations &amp; Computer Mediated Communications in HCI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l="63802" t="-6702" r="-1" b="-11713"/>
          <a:stretch/>
        </p:blipFill>
        <p:spPr>
          <a:xfrm>
            <a:off x="6096000" y="1404206"/>
            <a:ext cx="2780639" cy="323066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Course Outline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About Dialog Design Notations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Why Dialog Design Notations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Different Diagrammatic Notations with Examples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Different Textual Notations with Examples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Computer Mediated Communications</a:t>
            </a:r>
            <a:endParaRPr/>
          </a:p>
          <a:p>
            <a:pPr marL="514350" lvl="0" indent="-412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lvl="0" indent="-336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Dialog Design Notations</a:t>
            </a:r>
            <a:endParaRPr dirty="0"/>
          </a:p>
        </p:txBody>
      </p:sp>
      <p:sp>
        <p:nvSpPr>
          <p:cNvPr id="115" name="Google Shape;11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What is dialog?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Conversion between two or more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perties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The dialog is linked: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To the </a:t>
            </a:r>
            <a:r>
              <a:rPr lang="en-US" sz="1800" u="sng" dirty="0">
                <a:latin typeface="Times New Roman"/>
                <a:ea typeface="Times New Roman"/>
                <a:cs typeface="Times New Roman"/>
                <a:sym typeface="Times New Roman"/>
              </a:rPr>
              <a:t>semantics of the system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, what it does.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To the </a:t>
            </a:r>
            <a:r>
              <a:rPr lang="en-US" sz="1800" u="sng" dirty="0">
                <a:latin typeface="Times New Roman"/>
                <a:ea typeface="Times New Roman"/>
                <a:cs typeface="Times New Roman"/>
                <a:sym typeface="Times New Roman"/>
              </a:rPr>
              <a:t>presentation of the system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, how it looks.</a:t>
            </a:r>
            <a:endParaRPr dirty="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Formal descriptions can be </a:t>
            </a:r>
            <a:r>
              <a:rPr lang="en-US" sz="1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analysed</a:t>
            </a: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For inconsistent actions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For difficult to reverse actions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For missing items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For potential miscuing errors.</a:t>
            </a:r>
            <a:endParaRPr dirty="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6" name="Google Shape;11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1712" y="1992505"/>
            <a:ext cx="2794133" cy="381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About Dialog Design Notations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Dialog is the syntactic level of human computer interaction. It is rather like the script of a play,   except the user, and sometimes the computer, has more choice.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Notations used for dialog description can be:</a:t>
            </a:r>
            <a:endParaRPr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AutoNum type="arabicPeriod"/>
            </a:pPr>
            <a:r>
              <a:rPr lang="en-US" sz="1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Diagrammatic notations: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Easy to read at a glance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State transition networks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Petrinets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State charts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Flow charts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Jackson Structured Diagram (JSD)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Textual Notations: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Easier for formal analysis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Grammer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Production Rules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About Dialog Design Notations</a:t>
            </a:r>
            <a:endParaRPr/>
          </a:p>
        </p:txBody>
      </p:sp>
      <p:pic>
        <p:nvPicPr>
          <p:cNvPr id="103" name="Google Shape;103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718651" y="1957896"/>
            <a:ext cx="8754697" cy="4086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About Dialog Design Notations</a:t>
            </a:r>
            <a:endParaRPr dirty="0"/>
          </a:p>
        </p:txBody>
      </p:sp>
      <p:pic>
        <p:nvPicPr>
          <p:cNvPr id="109" name="Google Shape;109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99572" y="2005528"/>
            <a:ext cx="8992855" cy="3991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About Dialog Design Notations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slide is drawing an analogy between how we “speak” to a computer (write code) and how we speak to each other, breaking both into three levels:</a:t>
            </a:r>
          </a:p>
          <a:p>
            <a:pPr marL="571500" indent="-457200"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Level </a:t>
            </a:r>
          </a:p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side: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raw symbols—what characters you type (if, (, x, &gt;, 0, ), { …), or even the pixels on screen that represent them.</a:t>
            </a:r>
          </a:p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Human-language analogy: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sounds or letters that make up words (“cat” vs. 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”).</a:t>
            </a:r>
          </a:p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practice: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compiler’s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lexer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scanner) groups characters into tokens like identifiers, keywords, operators, literals.</a:t>
            </a:r>
          </a:p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11430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= 42;</a:t>
            </a:r>
          </a:p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tokens: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x | = | 42 | ;</a:t>
            </a:r>
          </a:p>
        </p:txBody>
      </p:sp>
    </p:spTree>
    <p:extLst>
      <p:ext uri="{BB962C8B-B14F-4D97-AF65-F5344CB8AC3E}">
        <p14:creationId xmlns:p14="http://schemas.microsoft.com/office/powerpoint/2010/main" val="3222840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About Dialog Design Notations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26464"/>
            <a:ext cx="10515600" cy="475049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Syntactic Level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side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structure or ordering of those tokens—how they fit together according to grammar rules.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Human-language analogy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grammar and sentence structure (“The cat sat” vs. “Sat cat the”).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practice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compiler’s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checks that your tokens form a valid statement or expression.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189" y="3369739"/>
            <a:ext cx="5591801" cy="296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85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About Dialog Design Notations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Semantic 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side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your correctly formed code—what it actually does to the machine’s memory, data structures, I/O,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Human-language analogy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what you intend to convey with your words, or how your listener interprets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practice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semantic analysis (type‑checking, scope resolution), plus the runtime effect (calculations, state changes, side‑effects).</a:t>
            </a: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toolchain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these three stages—lexical analysis, syntactic parsing, semantic checking—map directly to how compilers/interpreters process your code.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knowing which “level” an error comes from helps you fix it more quickly (typo vs. misplaced bracket vs. type mismatch).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design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language specifications explicitly define token sets, grammar rules, and semantic rules.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455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dirty="0">
                <a:latin typeface="Times New Roman"/>
                <a:ea typeface="Times New Roman"/>
                <a:cs typeface="Times New Roman"/>
                <a:sym typeface="Times New Roman"/>
              </a:rPr>
              <a:t>Diagrammatic notations: </a:t>
            </a:r>
            <a:r>
              <a:rPr lang="en-US" sz="36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Transition Networks (STN)</a:t>
            </a:r>
            <a:endParaRPr dirty="0"/>
          </a:p>
        </p:txBody>
      </p:sp>
      <p:pic>
        <p:nvPicPr>
          <p:cNvPr id="122" name="Google Shape;122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02695" y="1819834"/>
            <a:ext cx="10137420" cy="4320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/>
                <a:ea typeface="Times New Roman"/>
                <a:cs typeface="Times New Roman"/>
                <a:sym typeface="Times New Roman"/>
              </a:rPr>
              <a:t>Diagrammatic notations: </a:t>
            </a:r>
            <a:r>
              <a:rPr lang="en-US" sz="36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Transition Networks (STN)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image illustrates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diagrams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(also called state transition diagrams), which are commonly used in user interface design and modeling user actions. </a:t>
            </a:r>
          </a:p>
          <a:p>
            <a:pPr marL="114300" indent="0">
              <a:buNone/>
            </a:pPr>
            <a:r>
              <a:rPr lang="en-US" sz="1800" b="1" dirty="0"/>
              <a:t> General Concepts (Top):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Circles = States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Arcs = Actions/Events (transitions between states)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Track user actions, check consistency, perform similar actions, and recognize current state.</a:t>
            </a:r>
          </a:p>
          <a:p>
            <a:pPr marL="114300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Diagram (Drawing Shapes - Circles &amp; Lines):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diagram models the sequence of steps a user follows to draw a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circle or line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Circle drawing flow: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→ Menu (select 'circle') → Circle 1 (click center) → Circle 2 (click circumference) → Finish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drawing flow: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→ Menu (select 'line') → Line 1 (click first point) → Line 2 (click on another point) → Finish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reflects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rubber band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interactions (dynamic preview of shapes while dragging).</a:t>
            </a:r>
          </a:p>
          <a:p>
            <a:pPr marL="1143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044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Diagrammatic notations: </a:t>
            </a: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Transition Networks (STN)</a:t>
            </a: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708632"/>
            <a:ext cx="558037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 Diagram (Text Styling - Bold &amp; Italic):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the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 machine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toggling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style settings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style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bold only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italic only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bold italic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Transitions: Occur on clicking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'bold'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'italic'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838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Diagrammatic notations: </a:t>
            </a: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Petri nets</a:t>
            </a:r>
            <a:endParaRPr dirty="0"/>
          </a:p>
        </p:txBody>
      </p:sp>
      <p:sp>
        <p:nvSpPr>
          <p:cNvPr id="128" name="Google Shape;128;p8"/>
          <p:cNvSpPr txBox="1">
            <a:spLocks noGrp="1"/>
          </p:cNvSpPr>
          <p:nvPr>
            <p:ph type="body" idx="1"/>
          </p:nvPr>
        </p:nvSpPr>
        <p:spPr>
          <a:xfrm>
            <a:off x="746760" y="178276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A </a:t>
            </a: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Petri net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, also known as a </a:t>
            </a: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place/transition (PT) net.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It is a class of </a:t>
            </a:r>
            <a:r>
              <a:rPr lang="en-US" sz="1800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discrete event dynamic system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Petri net is a directed </a:t>
            </a:r>
            <a:r>
              <a:rPr lang="en-US" sz="1800" u="sng" dirty="0">
                <a:solidFill>
                  <a:schemeClr val="hlink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bipartite graph</a:t>
            </a:r>
            <a:r>
              <a:rPr lang="en-US" sz="1800" dirty="0"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 that has two types of elements: places and transitions. </a:t>
            </a:r>
            <a:endParaRPr sz="1800" dirty="0"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Place elements are depicted as white circles and transition elements are depicted as rectangles. 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A place can contain any number of tokens, depicted as black circles. 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A transition is enabled if all places connected to it as inputs contain at least one token. 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8" descr="undefin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11291" y="4137313"/>
            <a:ext cx="2895196" cy="1418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8" descr="undefin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67902" y="4228753"/>
            <a:ext cx="2346556" cy="1149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Petrinets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Petri Nets - Core Concepts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Petri Net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is: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directed bipartite graph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of:</a:t>
            </a:r>
          </a:p>
          <a:p>
            <a:pPr lvl="1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(shown as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circles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(shown as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rectangles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(directed edges between places and transitions)</a:t>
            </a:r>
          </a:p>
          <a:p>
            <a:pPr lvl="1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(shown as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dots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inside places)</a:t>
            </a:r>
          </a:p>
          <a:p>
            <a:pPr marL="11430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Rules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is enabled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input places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at least one token.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enabled transition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token from each input place.</a:t>
            </a:r>
          </a:p>
          <a:p>
            <a:pPr lvl="1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token in each output place.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582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Petrinets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Petri Nets are used to model: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systems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systems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systems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interactions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061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Diagrammatic notations: 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Petrinets</a:t>
            </a:r>
            <a:endParaRPr/>
          </a:p>
        </p:txBody>
      </p:sp>
      <p:pic>
        <p:nvPicPr>
          <p:cNvPr id="136" name="Google Shape;136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160157" y="1825625"/>
            <a:ext cx="5871685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Petrinets Examples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10" descr="undefin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299609"/>
            <a:ext cx="2054629" cy="114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12743" y="2299609"/>
            <a:ext cx="2070799" cy="1163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03457" y="2299609"/>
            <a:ext cx="2110260" cy="1190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82069" y="2299610"/>
            <a:ext cx="2167772" cy="1197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0736" y="4071832"/>
            <a:ext cx="2423040" cy="13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11664" y="4071832"/>
            <a:ext cx="2365434" cy="1324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87013" y="4071832"/>
            <a:ext cx="2292463" cy="1299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Diagrammatic notations: </a:t>
            </a:r>
            <a:r>
              <a:rPr lang="en-US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Petrinets</a:t>
            </a:r>
            <a:endParaRPr dirty="0"/>
          </a:p>
        </p:txBody>
      </p:sp>
      <p:pic>
        <p:nvPicPr>
          <p:cNvPr id="154" name="Google Shape;154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040639" y="1825625"/>
            <a:ext cx="6110722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Petrinets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coffee vending machine process involves: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Inserting a coin.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coffee.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Brewing the coffee.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Dispensing the coffee.  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412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Petrinets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199" y="1464701"/>
            <a:ext cx="10125891" cy="5073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Coffee Machine Petri Net: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Places: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P1: Coin inserted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P2: Coffee selected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P3: Coffee brewing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P4: Coffee ready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Transitions: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T1: Insert coin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T2: Select coffee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T3: Brew coffee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T4: Dispense coffee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(Token Movement Logic)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 tokens in any place (i.e., token is outside the net).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 (Insert coin)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fires → places a token in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 (Select coffee)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fires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P1 has a token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moves token from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 → P2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 (Brew coffee)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fires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P2 has a token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moves token from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 → P3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 (Dispense coffee)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fires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P3 has a token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moves token from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 → P4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798" y="2341692"/>
            <a:ext cx="4544059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942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Petrinets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Using Petri Nets for This: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clarity: shows steps and flow.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deadlocks or inefficiencies.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simulate real-world workflows.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005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Diagrammatic notations: </a:t>
            </a:r>
            <a:r>
              <a:rPr lang="en-US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StateCharts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StateCharts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represents complex reactive systems that extends </a:t>
            </a:r>
            <a:r>
              <a:rPr lang="en-US" sz="2000" u="sng" dirty="0">
                <a:latin typeface="Times New Roman"/>
                <a:ea typeface="Times New Roman"/>
                <a:cs typeface="Times New Roman"/>
                <a:sym typeface="Times New Roman"/>
              </a:rPr>
              <a:t>Finite State Machines (FSM)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,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   handle concurrency.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It also simplifies complex system representations.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Active states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: the present state of the underlying FSM.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Basic states: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these are individual states and are not composed of other states.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Super states: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these states are composed of other states.</a:t>
            </a:r>
            <a:endParaRPr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StateCharts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07592"/>
            <a:ext cx="10515600" cy="486937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Why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StateCharts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FSMs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Traditional FSMs can become unwieldy when you need to represent lots of states, nested behaviors, or concurrent activities.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Concurrency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StateCharts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let you express parallel regions (orthogonal components) so multiple “sub‑machines” can be active at once.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Complexity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By organizing states hierarchically, you avoid state‑explosion and make your models easier to read, maintain, and evolve.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048896"/>
              </p:ext>
            </p:extLst>
          </p:nvPr>
        </p:nvGraphicFramePr>
        <p:xfrm>
          <a:off x="1431941" y="4234942"/>
          <a:ext cx="6331314" cy="2286000"/>
        </p:xfrm>
        <a:graphic>
          <a:graphicData uri="http://schemas.openxmlformats.org/drawingml/2006/table">
            <a:tbl>
              <a:tblPr/>
              <a:tblGrid>
                <a:gridCol w="316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Active states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set of states (possibly in different regions) that the system is currently “in.”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Basic states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Leaf nodes in the state hierarchy. They do </a:t>
                      </a:r>
                      <a:r>
                        <a:rPr lang="en-US" b="1"/>
                        <a:t>not</a:t>
                      </a:r>
                      <a:r>
                        <a:rPr lang="en-US"/>
                        <a:t> contain any substates.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Superstates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Composite states that </a:t>
                      </a:r>
                      <a:r>
                        <a:rPr lang="en-US" i="1" dirty="0"/>
                        <a:t>do</a:t>
                      </a:r>
                      <a:r>
                        <a:rPr lang="en-US" dirty="0"/>
                        <a:t> contain one or more nested states (basic or further composites).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38200" y="3767261"/>
            <a:ext cx="7350539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Terminology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6983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StateCharts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44168"/>
            <a:ext cx="10515600" cy="483279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in Practice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Break your system into nested pieces, each with clear responsibilities.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Common behaviors live 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superstates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apply to multiple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substates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Visual diagrams stay manageable even as the system grows, because you can collapse or expand sections.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Adding or modifying behaviors often means touching only one small sub‑machine rather than reworking a huge flat FSM.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519" y="4061360"/>
            <a:ext cx="7171041" cy="230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07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StateCharts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Here’s what this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StateChart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modeling—a simple “sign‑up/login” flow with an asynchronous submission step, plus an inner composite state for the post‑submit pages:</a:t>
            </a:r>
          </a:p>
          <a:p>
            <a:pPr marL="11430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Top‑Level States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form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 solid black dot on the far left points here).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fills in their name/email/etc.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Submitting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Triggered by the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 from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form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 of sending your data to the server.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(Anonymous) Composite State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Encapsulates everything that happens after the server responds.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enter this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superstate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either on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(error) or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(success) from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Submitting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6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9306" y="2502281"/>
            <a:ext cx="4751294" cy="20442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998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StateCharts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08176"/>
            <a:ext cx="10515600" cy="4768787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Composite (“Post‑Submit”)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Superstate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There’s its own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pseudo‑state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(solid dot at top right) whose outgoing arrow goes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page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states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it: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page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page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Transitions within/into the Composite</a:t>
            </a:r>
          </a:p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Submitting → Error page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server rejects your registration (e.g. “email already taken”), you jump straight into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page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Submitting → Welcome page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success, you enter the composite and—because of its default arrow—you land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page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3855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StateCharts</a:t>
            </a: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32815"/>
            <a:ext cx="958944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Error page → Empty form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Labeled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the error page you can go back to editing the form (to try different data).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Welcome page → Login page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Labeled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LOGOUT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Once you’re “logged in” (on the welcome screen) you can log out, which takes you to a login screen inside the same composite.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834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StateCharts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Active, Basic &amp;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Superstates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states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three named rectangles (Error, Login, Welcome) are all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states—they don’t contain further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substates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Superstate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big rounded rectangle groups those three. You can think of it as “the app shell” that only exists once you’ve submitted—successfully or not.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states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at any moment the chart is in exactly one of these: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submit: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form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submit: exactly one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page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page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6272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StateCharts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Helps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keeps your “post‑submit” UI pages neatly grouped, so common behaviors (e.g. global keyboard shortcuts,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menus) could be attached at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superstate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(initial)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on any successful entry to that composite you automatically go to the welcome screen unless you explicitly redirect elsewhere.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SUBMIT→Submitting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→(REJECT/RESOLVE) pattern cleanly separates “in‑flight” from success vs. failure logic.</a:t>
            </a:r>
          </a:p>
        </p:txBody>
      </p:sp>
    </p:spTree>
    <p:extLst>
      <p:ext uri="{BB962C8B-B14F-4D97-AF65-F5344CB8AC3E}">
        <p14:creationId xmlns:p14="http://schemas.microsoft.com/office/powerpoint/2010/main" val="14234237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Diagrammatic notations: 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Charts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67" name="Google Shape;16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flowchart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is a picture of the </a:t>
            </a:r>
            <a:r>
              <a:rPr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separate steps of a process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 a sequential order.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flowchart can also be defined as a </a:t>
            </a:r>
            <a:r>
              <a:rPr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diagrammatic representation of an algorithm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, a step by step approach to solving a task.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98776" y="2972345"/>
            <a:ext cx="3756211" cy="3204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Diagrammatic notations: </a:t>
            </a: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JSD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74" name="Google Shape;174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JSD means </a:t>
            </a:r>
            <a:r>
              <a:rPr lang="en-US" sz="2400" u="sng" dirty="0">
                <a:latin typeface="Times New Roman"/>
                <a:ea typeface="Times New Roman"/>
                <a:cs typeface="Times New Roman"/>
                <a:sym typeface="Times New Roman"/>
              </a:rPr>
              <a:t>Jackson Standard Design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Used for </a:t>
            </a:r>
            <a:r>
              <a:rPr lang="en-US" sz="2400" u="sng" dirty="0">
                <a:latin typeface="Times New Roman"/>
                <a:ea typeface="Times New Roman"/>
                <a:cs typeface="Times New Roman"/>
                <a:sym typeface="Times New Roman"/>
              </a:rPr>
              <a:t>task analysis and dialog design notations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 dirty="0">
                <a:latin typeface="Times New Roman"/>
                <a:ea typeface="Times New Roman"/>
                <a:cs typeface="Times New Roman"/>
                <a:sym typeface="Times New Roman"/>
              </a:rPr>
              <a:t>Less expensive and greater clarity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For example: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Personal Record System</a:t>
            </a:r>
            <a:endParaRPr dirty="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Diagrammatic notations: </a:t>
            </a: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JSD – Jackson System Development (Jackson Standard Design)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JSD is a structured method primarily used for: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Dialog Design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(esp. for data-driven systems)</a:t>
            </a:r>
          </a:p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</a:t>
            </a:r>
          </a:p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Clarity: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visual and logical representation of tasks, making complex systems easier to understand.</a:t>
            </a:r>
          </a:p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expensive than more formal or heavyweight methods.</a:t>
            </a:r>
          </a:p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Process-Oriented: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how data moves and changes over time.</a:t>
            </a:r>
          </a:p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Analysis &amp; Design: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Especially useful in early stages of system development.</a:t>
            </a:r>
          </a:p>
        </p:txBody>
      </p:sp>
    </p:spTree>
    <p:extLst>
      <p:ext uri="{BB962C8B-B14F-4D97-AF65-F5344CB8AC3E}">
        <p14:creationId xmlns:p14="http://schemas.microsoft.com/office/powerpoint/2010/main" val="849471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Diagrammatic notations: </a:t>
            </a:r>
            <a:r>
              <a:rPr lang="en-US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dialog flows in interactive systems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user tasks to system functions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structured data-process diagrams</a:t>
            </a:r>
          </a:p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Application: Personal Record System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such a system, JSD could be used to: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down tasks like Add Record, Update Record, Delete Record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user dialogs for searching or viewing personal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the process life cycle of a "Person" object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847" y="1353312"/>
            <a:ext cx="5175953" cy="299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102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Textual  Notations: 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Grammars</a:t>
            </a:r>
            <a:endParaRPr/>
          </a:p>
        </p:txBody>
      </p:sp>
      <p:sp>
        <p:nvSpPr>
          <p:cNvPr id="181" name="Google Shape;18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Grammars are used to describe </a:t>
            </a:r>
            <a:r>
              <a:rPr lang="en-US" sz="2400" u="sng" dirty="0">
                <a:latin typeface="Times New Roman"/>
                <a:ea typeface="Times New Roman"/>
                <a:cs typeface="Times New Roman"/>
                <a:sym typeface="Times New Roman"/>
              </a:rPr>
              <a:t>the syntax of a programming language.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It specifies the </a:t>
            </a:r>
            <a:r>
              <a:rPr lang="en-US" sz="2400" u="sng" dirty="0">
                <a:latin typeface="Times New Roman"/>
                <a:ea typeface="Times New Roman"/>
                <a:cs typeface="Times New Roman"/>
                <a:sym typeface="Times New Roman"/>
              </a:rPr>
              <a:t>structure of expression and statements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2" name="Google Shape;18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5341" y="2945909"/>
            <a:ext cx="7713317" cy="3087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Textual  Notations: 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Rules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188" name="Google Shape;188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43318" y="1860517"/>
            <a:ext cx="9018494" cy="4149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Computer Mediated Communication</a:t>
            </a:r>
            <a:endParaRPr/>
          </a:p>
        </p:txBody>
      </p:sp>
      <p:pic>
        <p:nvPicPr>
          <p:cNvPr id="194" name="Google Shape;194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07459" y="1838750"/>
            <a:ext cx="8991600" cy="3976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Computer Mediated Communication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26464"/>
            <a:ext cx="10515600" cy="4750499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or more individuals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separate computers or devices connected via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or a network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form of communication allows users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interact, share information, and collaborate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regardless of their physical location.</a:t>
            </a:r>
          </a:p>
          <a:p>
            <a:pPr marL="11430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Asynchronous Communication</a:t>
            </a:r>
          </a:p>
          <a:p>
            <a:pPr marL="11430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that does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happen in real-time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Participants can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 at their convenience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makes it flexible for different time zones or busy schedules.</a:t>
            </a:r>
          </a:p>
          <a:p>
            <a:pPr marL="11430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Sending and receiving messages at any time.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Viewing Web Pages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Reading static or dynamic content that doesn’t require live interaction.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Watching Videos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Consuming pre-recorded content (e.g., YouTube).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Downloading Files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Getting files from the internet without real-time exchange.</a:t>
            </a:r>
          </a:p>
          <a:p>
            <a:pPr marL="11430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time to think before responding.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Convenient for participants in different time zones.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documentation and formal communication.</a:t>
            </a:r>
          </a:p>
          <a:p>
            <a:pPr marL="11430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671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Computer Mediated Communication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Synchronous Communication</a:t>
            </a:r>
          </a:p>
          <a:p>
            <a:pPr marL="1143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that happens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all parties are present at the same time. It provides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feedback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is more interactive.</a:t>
            </a:r>
          </a:p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Messaging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Chat apps like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Messenger, Slack.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Calls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Voice calls over internet (e.g., Skype, Zoom, VoIP).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Calls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Face-to-face live communication (e.g., Zoom, Google Meet).</a:t>
            </a:r>
          </a:p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response and feedback.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Feels more natural and human.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urgent discussions or collaborative tasks.</a:t>
            </a:r>
          </a:p>
        </p:txBody>
      </p:sp>
    </p:spTree>
    <p:extLst>
      <p:ext uri="{BB962C8B-B14F-4D97-AF65-F5344CB8AC3E}">
        <p14:creationId xmlns:p14="http://schemas.microsoft.com/office/powerpoint/2010/main" val="9764756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Computer Mediated Communication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Online Communication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formal and asynchronous communication (personal, academic, business).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Messaging Systems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text-based communication (e.g., SMS,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Telegram).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Conferencing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virtual meetings, webinars, interviews (e.g., Zoom, Teams).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Collaborative Environments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 where multiple users can work together in real-time, such as: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Workspace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(Docs, Sheets, Slides)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Teams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Trello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task/project management)</a:t>
            </a:r>
          </a:p>
        </p:txBody>
      </p:sp>
    </p:spTree>
    <p:extLst>
      <p:ext uri="{BB962C8B-B14F-4D97-AF65-F5344CB8AC3E}">
        <p14:creationId xmlns:p14="http://schemas.microsoft.com/office/powerpoint/2010/main" val="2623813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1178</TotalTime>
  <Words>2564</Words>
  <Application>Microsoft Macintosh PowerPoint</Application>
  <PresentationFormat>Widescreen</PresentationFormat>
  <Paragraphs>281</Paragraphs>
  <Slides>39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Noto Sans Symbols</vt:lpstr>
      <vt:lpstr>Times New Roman</vt:lpstr>
      <vt:lpstr>Office Theme</vt:lpstr>
      <vt:lpstr>Diagrammatic Dialog Design Notations &amp; Computer Mediated Communications in HCI</vt:lpstr>
      <vt:lpstr>Course Outline</vt:lpstr>
      <vt:lpstr> Dialog Design Notations</vt:lpstr>
      <vt:lpstr>            About Dialog Design Notations </vt:lpstr>
      <vt:lpstr>About Dialog Design Notations</vt:lpstr>
      <vt:lpstr>About Dialog Design Notations</vt:lpstr>
      <vt:lpstr>About Dialog Design Notations</vt:lpstr>
      <vt:lpstr>About Dialog Design Notations</vt:lpstr>
      <vt:lpstr>About Dialog Design Notations</vt:lpstr>
      <vt:lpstr>Diagrammatic notations: State Transition Networks (STN)</vt:lpstr>
      <vt:lpstr>Diagrammatic notations: State Transition Networks (STN)</vt:lpstr>
      <vt:lpstr>Diagrammatic notations: State Transition Networks (STN)</vt:lpstr>
      <vt:lpstr>Diagrammatic notations: Petri nets</vt:lpstr>
      <vt:lpstr>Petrinets</vt:lpstr>
      <vt:lpstr>Petrinets</vt:lpstr>
      <vt:lpstr>Diagrammatic notations: Petrinets</vt:lpstr>
      <vt:lpstr>Petrinets Examples</vt:lpstr>
      <vt:lpstr>Diagrammatic notations: Petrinets</vt:lpstr>
      <vt:lpstr>Petrinets</vt:lpstr>
      <vt:lpstr>Petrinets</vt:lpstr>
      <vt:lpstr>Petrinets</vt:lpstr>
      <vt:lpstr>Diagrammatic notations: StateCharts</vt:lpstr>
      <vt:lpstr>StateCharts</vt:lpstr>
      <vt:lpstr>StateCharts</vt:lpstr>
      <vt:lpstr>StateCharts</vt:lpstr>
      <vt:lpstr>StateCharts</vt:lpstr>
      <vt:lpstr>StateCharts</vt:lpstr>
      <vt:lpstr>StateCharts</vt:lpstr>
      <vt:lpstr>StateCharts</vt:lpstr>
      <vt:lpstr>Diagrammatic notations: Flow Charts</vt:lpstr>
      <vt:lpstr>Diagrammatic notations: JSD</vt:lpstr>
      <vt:lpstr>Diagrammatic notations: JSD</vt:lpstr>
      <vt:lpstr>Diagrammatic notations: JSD</vt:lpstr>
      <vt:lpstr>Textual  Notations: Grammars</vt:lpstr>
      <vt:lpstr>Textual  Notations: Production Rules</vt:lpstr>
      <vt:lpstr>Computer Mediated Communication</vt:lpstr>
      <vt:lpstr>Computer Mediated Communication</vt:lpstr>
      <vt:lpstr>Computer Mediated Communication</vt:lpstr>
      <vt:lpstr>Computer Mediated Communication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Diagrammatic Dialog Design Notations &amp; Computer Mediated Communications in HCI</dc:title>
  <dc:creator>samsun nahar</dc:creator>
  <cp:lastModifiedBy>shakibrybmn@gmail.com</cp:lastModifiedBy>
  <cp:revision>13</cp:revision>
  <dcterms:created xsi:type="dcterms:W3CDTF">2024-01-10T04:17:35Z</dcterms:created>
  <dcterms:modified xsi:type="dcterms:W3CDTF">2025-04-24T02:24:37Z</dcterms:modified>
</cp:coreProperties>
</file>