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59"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8" d="100"/>
          <a:sy n="88" d="100"/>
        </p:scale>
        <p:origin x="418"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ED4FFD5-5329-4E6F-B933-4F2A913A31BF}" type="datetimeFigureOut">
              <a:rPr lang="en-US" smtClean="0"/>
              <a:t>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AE0634-D0D2-4F70-8312-0E0B214446CA}" type="slidenum">
              <a:rPr lang="en-US" smtClean="0"/>
              <a:t>‹#›</a:t>
            </a:fld>
            <a:endParaRPr lang="en-US"/>
          </a:p>
        </p:txBody>
      </p:sp>
    </p:spTree>
    <p:extLst>
      <p:ext uri="{BB962C8B-B14F-4D97-AF65-F5344CB8AC3E}">
        <p14:creationId xmlns:p14="http://schemas.microsoft.com/office/powerpoint/2010/main" val="1258582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D4FFD5-5329-4E6F-B933-4F2A913A31BF}" type="datetimeFigureOut">
              <a:rPr lang="en-US" smtClean="0"/>
              <a:t>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AE0634-D0D2-4F70-8312-0E0B214446CA}" type="slidenum">
              <a:rPr lang="en-US" smtClean="0"/>
              <a:t>‹#›</a:t>
            </a:fld>
            <a:endParaRPr lang="en-US"/>
          </a:p>
        </p:txBody>
      </p:sp>
    </p:spTree>
    <p:extLst>
      <p:ext uri="{BB962C8B-B14F-4D97-AF65-F5344CB8AC3E}">
        <p14:creationId xmlns:p14="http://schemas.microsoft.com/office/powerpoint/2010/main" val="3983471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ED4FFD5-5329-4E6F-B933-4F2A913A31BF}" type="datetimeFigureOut">
              <a:rPr lang="en-US" smtClean="0"/>
              <a:t>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AE0634-D0D2-4F70-8312-0E0B214446CA}" type="slidenum">
              <a:rPr lang="en-US" smtClean="0"/>
              <a:t>‹#›</a:t>
            </a:fld>
            <a:endParaRPr lang="en-US"/>
          </a:p>
        </p:txBody>
      </p:sp>
    </p:spTree>
    <p:extLst>
      <p:ext uri="{BB962C8B-B14F-4D97-AF65-F5344CB8AC3E}">
        <p14:creationId xmlns:p14="http://schemas.microsoft.com/office/powerpoint/2010/main" val="2498768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ED4FFD5-5329-4E6F-B933-4F2A913A31BF}" type="datetimeFigureOut">
              <a:rPr lang="en-US" smtClean="0"/>
              <a:t>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AE0634-D0D2-4F70-8312-0E0B214446CA}" type="slidenum">
              <a:rPr lang="en-US" smtClean="0"/>
              <a:t>‹#›</a:t>
            </a:fld>
            <a:endParaRPr lang="en-US"/>
          </a:p>
        </p:txBody>
      </p:sp>
    </p:spTree>
    <p:extLst>
      <p:ext uri="{BB962C8B-B14F-4D97-AF65-F5344CB8AC3E}">
        <p14:creationId xmlns:p14="http://schemas.microsoft.com/office/powerpoint/2010/main" val="53261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ED4FFD5-5329-4E6F-B933-4F2A913A31BF}" type="datetimeFigureOut">
              <a:rPr lang="en-US" smtClean="0"/>
              <a:t>2/27/2025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0AE0634-D0D2-4F70-8312-0E0B214446CA}" type="slidenum">
              <a:rPr lang="en-US" smtClean="0"/>
              <a:t>‹#›</a:t>
            </a:fld>
            <a:endParaRPr lang="en-US"/>
          </a:p>
        </p:txBody>
      </p:sp>
    </p:spTree>
    <p:extLst>
      <p:ext uri="{BB962C8B-B14F-4D97-AF65-F5344CB8AC3E}">
        <p14:creationId xmlns:p14="http://schemas.microsoft.com/office/powerpoint/2010/main" val="857438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ED4FFD5-5329-4E6F-B933-4F2A913A31BF}" type="datetimeFigureOut">
              <a:rPr lang="en-US" smtClean="0"/>
              <a:t>2/27/2025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0AE0634-D0D2-4F70-8312-0E0B214446CA}" type="slidenum">
              <a:rPr lang="en-US" smtClean="0"/>
              <a:t>‹#›</a:t>
            </a:fld>
            <a:endParaRPr lang="en-US"/>
          </a:p>
        </p:txBody>
      </p:sp>
    </p:spTree>
    <p:extLst>
      <p:ext uri="{BB962C8B-B14F-4D97-AF65-F5344CB8AC3E}">
        <p14:creationId xmlns:p14="http://schemas.microsoft.com/office/powerpoint/2010/main" val="3146263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D4FFD5-5329-4E6F-B933-4F2A913A31BF}" type="datetimeFigureOut">
              <a:rPr lang="en-US" smtClean="0"/>
              <a:t>2/27/2025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0AE0634-D0D2-4F70-8312-0E0B214446CA}" type="slidenum">
              <a:rPr lang="en-US" smtClean="0"/>
              <a:t>‹#›</a:t>
            </a:fld>
            <a:endParaRPr lang="en-US"/>
          </a:p>
        </p:txBody>
      </p:sp>
    </p:spTree>
    <p:extLst>
      <p:ext uri="{BB962C8B-B14F-4D97-AF65-F5344CB8AC3E}">
        <p14:creationId xmlns:p14="http://schemas.microsoft.com/office/powerpoint/2010/main" val="450140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ED4FFD5-5329-4E6F-B933-4F2A913A31BF}" type="datetimeFigureOut">
              <a:rPr lang="en-US" smtClean="0"/>
              <a:t>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AE0634-D0D2-4F70-8312-0E0B214446CA}" type="slidenum">
              <a:rPr lang="en-US" smtClean="0"/>
              <a:t>‹#›</a:t>
            </a:fld>
            <a:endParaRPr lang="en-US"/>
          </a:p>
        </p:txBody>
      </p:sp>
    </p:spTree>
    <p:extLst>
      <p:ext uri="{BB962C8B-B14F-4D97-AF65-F5344CB8AC3E}">
        <p14:creationId xmlns:p14="http://schemas.microsoft.com/office/powerpoint/2010/main" val="3762002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ED4FFD5-5329-4E6F-B933-4F2A913A31BF}" type="datetimeFigureOut">
              <a:rPr lang="en-US" smtClean="0"/>
              <a:t>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AE0634-D0D2-4F70-8312-0E0B214446CA}" type="slidenum">
              <a:rPr lang="en-US" smtClean="0"/>
              <a:t>‹#›</a:t>
            </a:fld>
            <a:endParaRPr lang="en-US"/>
          </a:p>
        </p:txBody>
      </p:sp>
    </p:spTree>
    <p:extLst>
      <p:ext uri="{BB962C8B-B14F-4D97-AF65-F5344CB8AC3E}">
        <p14:creationId xmlns:p14="http://schemas.microsoft.com/office/powerpoint/2010/main" val="256570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D4FFD5-5329-4E6F-B933-4F2A913A31BF}" type="datetimeFigureOut">
              <a:rPr lang="en-US" smtClean="0"/>
              <a:t>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AE0634-D0D2-4F70-8312-0E0B214446CA}" type="slidenum">
              <a:rPr lang="en-US" smtClean="0"/>
              <a:t>‹#›</a:t>
            </a:fld>
            <a:endParaRPr lang="en-US"/>
          </a:p>
        </p:txBody>
      </p:sp>
    </p:spTree>
    <p:extLst>
      <p:ext uri="{BB962C8B-B14F-4D97-AF65-F5344CB8AC3E}">
        <p14:creationId xmlns:p14="http://schemas.microsoft.com/office/powerpoint/2010/main" val="1284398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D4FFD5-5329-4E6F-B933-4F2A913A31BF}" type="datetimeFigureOut">
              <a:rPr lang="en-US" smtClean="0"/>
              <a:t>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AE0634-D0D2-4F70-8312-0E0B214446CA}" type="slidenum">
              <a:rPr lang="en-US" smtClean="0"/>
              <a:t>‹#›</a:t>
            </a:fld>
            <a:endParaRPr lang="en-US"/>
          </a:p>
        </p:txBody>
      </p:sp>
    </p:spTree>
    <p:extLst>
      <p:ext uri="{BB962C8B-B14F-4D97-AF65-F5344CB8AC3E}">
        <p14:creationId xmlns:p14="http://schemas.microsoft.com/office/powerpoint/2010/main" val="486528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D4FFD5-5329-4E6F-B933-4F2A913A31BF}" type="datetimeFigureOut">
              <a:rPr lang="en-US" smtClean="0"/>
              <a:t>2/27/2025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AE0634-D0D2-4F70-8312-0E0B214446CA}" type="slidenum">
              <a:rPr lang="en-US" smtClean="0"/>
              <a:t>‹#›</a:t>
            </a:fld>
            <a:endParaRPr lang="en-US"/>
          </a:p>
        </p:txBody>
      </p:sp>
    </p:spTree>
    <p:extLst>
      <p:ext uri="{BB962C8B-B14F-4D97-AF65-F5344CB8AC3E}">
        <p14:creationId xmlns:p14="http://schemas.microsoft.com/office/powerpoint/2010/main" val="4179880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b="1" dirty="0" smtClean="0">
                <a:latin typeface="Times New Roman" panose="02020603050405020304" pitchFamily="18" charset="0"/>
                <a:cs typeface="Times New Roman" panose="02020603050405020304" pitchFamily="18" charset="0"/>
              </a:rPr>
              <a:t>IMPLEMENTATION SUPPORT</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6558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ELEMENTS OF WINDOWING SYSTEMS</a:t>
            </a:r>
            <a:endParaRPr lang="en-US" sz="3200" b="1" dirty="0"/>
          </a:p>
        </p:txBody>
      </p:sp>
      <p:sp>
        <p:nvSpPr>
          <p:cNvPr id="3" name="Content Placeholder 2"/>
          <p:cNvSpPr>
            <a:spLocks noGrp="1"/>
          </p:cNvSpPr>
          <p:nvPr>
            <p:ph idx="1"/>
          </p:nvPr>
        </p:nvSpPr>
        <p:spPr/>
        <p:txBody>
          <a:bodyPr>
            <a:normAutofit/>
          </a:bodyPr>
          <a:lstStyle/>
          <a:p>
            <a:r>
              <a:rPr lang="en-US" sz="2000" dirty="0" smtClean="0">
                <a:latin typeface="Times New Roman" panose="02020603050405020304" pitchFamily="18" charset="0"/>
                <a:cs typeface="Times New Roman" panose="02020603050405020304" pitchFamily="18" charset="0"/>
              </a:rPr>
              <a:t>In earlier chapters, we have discussed the elements of the WIMP interface but only with respect to how they enhance the interaction with the end-user. </a:t>
            </a:r>
          </a:p>
          <a:p>
            <a:r>
              <a:rPr lang="en-US" sz="2000" dirty="0" smtClean="0">
                <a:latin typeface="Times New Roman" panose="02020603050405020304" pitchFamily="18" charset="0"/>
                <a:cs typeface="Times New Roman" panose="02020603050405020304" pitchFamily="18" charset="0"/>
              </a:rPr>
              <a:t>Here we will describe more details of windowing systems used to build the WIMP interface.</a:t>
            </a:r>
          </a:p>
          <a:p>
            <a:r>
              <a:rPr lang="en-US" sz="2000" dirty="0" smtClean="0">
                <a:latin typeface="Times New Roman" panose="02020603050405020304" pitchFamily="18" charset="0"/>
                <a:cs typeface="Times New Roman" panose="02020603050405020304" pitchFamily="18" charset="0"/>
              </a:rPr>
              <a:t>The first important feature of a windowing system is its ability to provide programmer independence from the specifics of the hardware devices. </a:t>
            </a:r>
          </a:p>
          <a:p>
            <a:r>
              <a:rPr lang="en-US" sz="2000" dirty="0" smtClean="0">
                <a:latin typeface="Times New Roman" panose="02020603050405020304" pitchFamily="18" charset="0"/>
                <a:cs typeface="Times New Roman" panose="02020603050405020304" pitchFamily="18" charset="0"/>
              </a:rPr>
              <a:t>A typical work station will involve some visual display screen, a keyboard and some pointing device, such as a mouse. </a:t>
            </a:r>
          </a:p>
          <a:p>
            <a:r>
              <a:rPr lang="en-US" sz="2000" dirty="0" smtClean="0">
                <a:latin typeface="Times New Roman" panose="02020603050405020304" pitchFamily="18" charset="0"/>
                <a:cs typeface="Times New Roman" panose="02020603050405020304" pitchFamily="18" charset="0"/>
              </a:rPr>
              <a:t>Any variety of these hardware devices can be used in any interactive system and they are all different in terms of the data they communicate and the commands that are used to instruct them.</a:t>
            </a:r>
          </a:p>
          <a:p>
            <a:r>
              <a:rPr lang="en-US" sz="2000" dirty="0" smtClean="0">
                <a:latin typeface="Times New Roman" panose="02020603050405020304" pitchFamily="18" charset="0"/>
                <a:cs typeface="Times New Roman" panose="02020603050405020304" pitchFamily="18" charset="0"/>
              </a:rPr>
              <a:t>To do this, the programmer wants to direct commands to an abstract terminal, which understands a more generic language and can be translated to the language of many other specific devices.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4124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ELEMENTS OF WINDOWING SYSTEMS</a:t>
            </a:r>
            <a:endParaRPr lang="en-US" sz="3200" dirty="0"/>
          </a:p>
        </p:txBody>
      </p:sp>
      <p:sp>
        <p:nvSpPr>
          <p:cNvPr id="3" name="Content Placeholder 2"/>
          <p:cNvSpPr>
            <a:spLocks noGrp="1"/>
          </p:cNvSpPr>
          <p:nvPr>
            <p:ph idx="1"/>
          </p:nvPr>
        </p:nvSpPr>
        <p:spPr/>
        <p:txBody>
          <a:bodyPr>
            <a:normAutofit/>
          </a:bodyPr>
          <a:lstStyle/>
          <a:p>
            <a:r>
              <a:rPr lang="en-US" sz="2400" dirty="0" smtClean="0"/>
              <a:t>Besides making the programming task easier, the abstract terminal makes portability of application programs possible.</a:t>
            </a:r>
          </a:p>
          <a:p>
            <a:r>
              <a:rPr lang="en-US" sz="2400" dirty="0" smtClean="0"/>
              <a:t>Only one translation program or device driver needs to be written for a particular hardware device and then any application program can access it.</a:t>
            </a:r>
          </a:p>
          <a:p>
            <a:r>
              <a:rPr lang="en-US" sz="2400" dirty="0" smtClean="0"/>
              <a:t>A given windowing system will have a fixed generic language for the abstract terminal which is called its </a:t>
            </a:r>
            <a:r>
              <a:rPr lang="en-US" sz="2400" b="1" dirty="0" smtClean="0"/>
              <a:t>imaging model</a:t>
            </a:r>
            <a:r>
              <a:rPr lang="en-US" sz="2400" dirty="0" smtClean="0"/>
              <a:t>. </a:t>
            </a:r>
          </a:p>
          <a:p>
            <a:r>
              <a:rPr lang="en-US" sz="2400" dirty="0" smtClean="0"/>
              <a:t>The </a:t>
            </a:r>
            <a:r>
              <a:rPr lang="en-US" sz="2400" b="1" dirty="0" smtClean="0"/>
              <a:t>imaging models </a:t>
            </a:r>
            <a:r>
              <a:rPr lang="en-US" sz="2400" dirty="0" smtClean="0"/>
              <a:t>are sufficient to describe very arbitrary images. </a:t>
            </a:r>
          </a:p>
          <a:p>
            <a:r>
              <a:rPr lang="en-US" sz="2400" dirty="0" smtClean="0"/>
              <a:t>In summary, we can see the role of a windowing system, depicted in Figure 8.1, as providing</a:t>
            </a:r>
            <a:endParaRPr lang="en-US" sz="2400" dirty="0"/>
          </a:p>
        </p:txBody>
      </p:sp>
    </p:spTree>
    <p:extLst>
      <p:ext uri="{BB962C8B-B14F-4D97-AF65-F5344CB8AC3E}">
        <p14:creationId xmlns:p14="http://schemas.microsoft.com/office/powerpoint/2010/main" val="1391070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a:t>
            </a:r>
            <a:r>
              <a:rPr lang="en-US" dirty="0" smtClean="0">
                <a:latin typeface="Times New Roman" panose="02020603050405020304" pitchFamily="18" charset="0"/>
                <a:cs typeface="Times New Roman" panose="02020603050405020304" pitchFamily="18" charset="0"/>
              </a:rPr>
              <a:t>he role of a windowing system</a:t>
            </a:r>
            <a:endParaRPr lang="en-US"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2769079" y="1825625"/>
            <a:ext cx="6159261" cy="4351338"/>
          </a:xfrm>
          <a:prstGeom prst="rect">
            <a:avLst/>
          </a:prstGeom>
        </p:spPr>
      </p:pic>
    </p:spTree>
    <p:extLst>
      <p:ext uri="{BB962C8B-B14F-4D97-AF65-F5344CB8AC3E}">
        <p14:creationId xmlns:p14="http://schemas.microsoft.com/office/powerpoint/2010/main" val="1064248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of imaging models</a:t>
            </a:r>
            <a:endParaRPr lang="en-US" dirty="0"/>
          </a:p>
        </p:txBody>
      </p:sp>
      <p:sp>
        <p:nvSpPr>
          <p:cNvPr id="3" name="Content Placeholder 2"/>
          <p:cNvSpPr>
            <a:spLocks noGrp="1"/>
          </p:cNvSpPr>
          <p:nvPr>
            <p:ph idx="1"/>
          </p:nvPr>
        </p:nvSpPr>
        <p:spPr>
          <a:xfrm>
            <a:off x="838200" y="1825625"/>
            <a:ext cx="10176164" cy="4351338"/>
          </a:xfrm>
        </p:spPr>
        <p:txBody>
          <a:bodyPr>
            <a:normAutofit lnSpcReduction="10000"/>
          </a:bodyPr>
          <a:lstStyle/>
          <a:p>
            <a:pPr marL="0" indent="0">
              <a:buNone/>
            </a:pPr>
            <a:r>
              <a:rPr lang="en-US" sz="1800" b="1" dirty="0" smtClean="0">
                <a:latin typeface="Times New Roman" panose="02020603050405020304" pitchFamily="18" charset="0"/>
                <a:cs typeface="Times New Roman" panose="02020603050405020304" pitchFamily="18" charset="0"/>
              </a:rPr>
              <a:t>Pixels </a:t>
            </a:r>
          </a:p>
          <a:p>
            <a:r>
              <a:rPr lang="en-US" sz="1800" dirty="0" smtClean="0">
                <a:latin typeface="Times New Roman" panose="02020603050405020304" pitchFamily="18" charset="0"/>
                <a:cs typeface="Times New Roman" panose="02020603050405020304" pitchFamily="18" charset="0"/>
              </a:rPr>
              <a:t>The display screen is represented as a series of columns and rows of points  or pixels  which can be explicitly turned on or off, or given a color. </a:t>
            </a:r>
          </a:p>
          <a:p>
            <a:r>
              <a:rPr lang="en-US" sz="1800" dirty="0" smtClean="0">
                <a:latin typeface="Times New Roman" panose="02020603050405020304" pitchFamily="18" charset="0"/>
                <a:cs typeface="Times New Roman" panose="02020603050405020304" pitchFamily="18" charset="0"/>
              </a:rPr>
              <a:t>This is a common imaging model for personal computers and is also used by the X windowing system. </a:t>
            </a:r>
          </a:p>
          <a:p>
            <a:pPr marL="0" indent="0">
              <a:buNone/>
            </a:pPr>
            <a:r>
              <a:rPr lang="en-US" sz="1800" b="1" dirty="0" smtClean="0">
                <a:latin typeface="Times New Roman" panose="02020603050405020304" pitchFamily="18" charset="0"/>
                <a:cs typeface="Times New Roman" panose="02020603050405020304" pitchFamily="18" charset="0"/>
              </a:rPr>
              <a:t>Graphical kernel system (GKS) </a:t>
            </a:r>
          </a:p>
          <a:p>
            <a:r>
              <a:rPr lang="en-US" sz="1800" dirty="0" smtClean="0">
                <a:latin typeface="Times New Roman" panose="02020603050405020304" pitchFamily="18" charset="0"/>
                <a:cs typeface="Times New Roman" panose="02020603050405020304" pitchFamily="18" charset="0"/>
              </a:rPr>
              <a:t>An international standard which models the screen as a collection of connected segments, each of which is a macro of elementary graphics commands. </a:t>
            </a:r>
          </a:p>
          <a:p>
            <a:pPr marL="0" indent="0">
              <a:buNone/>
            </a:pPr>
            <a:r>
              <a:rPr lang="en-US" sz="1800" b="1" dirty="0" smtClean="0">
                <a:latin typeface="Times New Roman" panose="02020603050405020304" pitchFamily="18" charset="0"/>
                <a:cs typeface="Times New Roman" panose="02020603050405020304" pitchFamily="18" charset="0"/>
              </a:rPr>
              <a:t>Programmer’s hierarchical interface to graphics (PHIGS) </a:t>
            </a:r>
          </a:p>
          <a:p>
            <a:r>
              <a:rPr lang="en-US" sz="1800" dirty="0" smtClean="0">
                <a:latin typeface="Times New Roman" panose="02020603050405020304" pitchFamily="18" charset="0"/>
                <a:cs typeface="Times New Roman" panose="02020603050405020304" pitchFamily="18" charset="0"/>
              </a:rPr>
              <a:t>Another international standard, based on GKS but with an extension to model the screen as editable segments. </a:t>
            </a:r>
          </a:p>
          <a:p>
            <a:pPr marL="0" indent="0">
              <a:buNone/>
            </a:pPr>
            <a:r>
              <a:rPr lang="en-US" sz="1800" b="1" dirty="0" smtClean="0">
                <a:latin typeface="Times New Roman" panose="02020603050405020304" pitchFamily="18" charset="0"/>
                <a:cs typeface="Times New Roman" panose="02020603050405020304" pitchFamily="18" charset="0"/>
              </a:rPr>
              <a:t>PostScript</a:t>
            </a:r>
            <a:r>
              <a:rPr lang="en-US" sz="1800" dirty="0" smtClean="0">
                <a:latin typeface="Times New Roman" panose="02020603050405020304" pitchFamily="18" charset="0"/>
                <a:cs typeface="Times New Roman" panose="02020603050405020304" pitchFamily="18" charset="0"/>
              </a:rPr>
              <a:t> </a:t>
            </a:r>
          </a:p>
          <a:p>
            <a:r>
              <a:rPr lang="en-US" sz="1800" dirty="0" smtClean="0">
                <a:latin typeface="Times New Roman" panose="02020603050405020304" pitchFamily="18" charset="0"/>
                <a:cs typeface="Times New Roman" panose="02020603050405020304" pitchFamily="18" charset="0"/>
              </a:rPr>
              <a:t>A programming language developed by Adobe Corporation which models the screen as a collection of paths which serve as infinitely thin boundaries or stencils which can be filled in with various colors or textured patterns and images.</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7137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Times New Roman" panose="02020603050405020304" pitchFamily="18" charset="0"/>
                <a:cs typeface="Times New Roman" panose="02020603050405020304" pitchFamily="18" charset="0"/>
              </a:rPr>
              <a:t>Architectures of windowing systems</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sz="2000" dirty="0" smtClean="0">
                <a:latin typeface="Times New Roman" panose="02020603050405020304" pitchFamily="18" charset="0"/>
                <a:cs typeface="Times New Roman" panose="02020603050405020304" pitchFamily="18" charset="0"/>
              </a:rPr>
              <a:t>Bass and </a:t>
            </a:r>
            <a:r>
              <a:rPr lang="en-US" sz="2000" dirty="0" err="1" smtClean="0">
                <a:latin typeface="Times New Roman" panose="02020603050405020304" pitchFamily="18" charset="0"/>
                <a:cs typeface="Times New Roman" panose="02020603050405020304" pitchFamily="18" charset="0"/>
              </a:rPr>
              <a:t>Coutaz</a:t>
            </a:r>
            <a:r>
              <a:rPr lang="en-US" sz="2000" dirty="0" smtClean="0">
                <a:latin typeface="Times New Roman" panose="02020603050405020304" pitchFamily="18" charset="0"/>
                <a:cs typeface="Times New Roman" panose="02020603050405020304" pitchFamily="18" charset="0"/>
              </a:rPr>
              <a:t> identify three possible architectures for the software to implement the roles of a windowing system. </a:t>
            </a:r>
          </a:p>
          <a:p>
            <a:pPr algn="just"/>
            <a:r>
              <a:rPr lang="en-US" sz="2000" dirty="0" smtClean="0">
                <a:latin typeface="Times New Roman" panose="02020603050405020304" pitchFamily="18" charset="0"/>
                <a:cs typeface="Times New Roman" panose="02020603050405020304" pitchFamily="18" charset="0"/>
              </a:rPr>
              <a:t>All of them assume that device drivers are separate from the application programs. </a:t>
            </a:r>
          </a:p>
          <a:p>
            <a:pPr algn="just"/>
            <a:r>
              <a:rPr lang="en-US" sz="2000" dirty="0" smtClean="0">
                <a:latin typeface="Times New Roman" panose="02020603050405020304" pitchFamily="18" charset="0"/>
                <a:cs typeface="Times New Roman" panose="02020603050405020304" pitchFamily="18" charset="0"/>
              </a:rPr>
              <a:t>The first option is to implement and replicate the management of the multiple processes within each of the separate applications.</a:t>
            </a:r>
          </a:p>
          <a:p>
            <a:pPr algn="just"/>
            <a:r>
              <a:rPr lang="en-US" sz="2000" dirty="0" smtClean="0">
                <a:latin typeface="Times New Roman" panose="02020603050405020304" pitchFamily="18" charset="0"/>
                <a:cs typeface="Times New Roman" panose="02020603050405020304" pitchFamily="18" charset="0"/>
              </a:rPr>
              <a:t>This is not a very satisfactory architecture because it forces each application to consider the difficult problems of resolving synchronization conflicts with the shared hardware devices.</a:t>
            </a:r>
          </a:p>
          <a:p>
            <a:pPr algn="just"/>
            <a:r>
              <a:rPr lang="en-US" sz="2000" dirty="0" smtClean="0">
                <a:latin typeface="Times New Roman" panose="02020603050405020304" pitchFamily="18" charset="0"/>
                <a:cs typeface="Times New Roman" panose="02020603050405020304" pitchFamily="18" charset="0"/>
              </a:rPr>
              <a:t> It also reduces the portability of the separate applications. </a:t>
            </a:r>
          </a:p>
          <a:p>
            <a:pPr algn="just"/>
            <a:r>
              <a:rPr lang="en-US" sz="2000" dirty="0" smtClean="0">
                <a:latin typeface="Times New Roman" panose="02020603050405020304" pitchFamily="18" charset="0"/>
                <a:cs typeface="Times New Roman" panose="02020603050405020304" pitchFamily="18" charset="0"/>
              </a:rPr>
              <a:t>The second option is to implement the management role within the kernel of the operating system, centralizing the management task by freeing it from the individual applications. </a:t>
            </a:r>
          </a:p>
          <a:p>
            <a:pPr algn="just"/>
            <a:r>
              <a:rPr lang="en-US" sz="2000" dirty="0" smtClean="0">
                <a:latin typeface="Times New Roman" panose="02020603050405020304" pitchFamily="18" charset="0"/>
                <a:cs typeface="Times New Roman" panose="02020603050405020304" pitchFamily="18" charset="0"/>
              </a:rPr>
              <a:t>Applications must still be developed with the specifics of the particular operating system in mind. </a:t>
            </a:r>
          </a:p>
        </p:txBody>
      </p:sp>
    </p:spTree>
    <p:extLst>
      <p:ext uri="{BB962C8B-B14F-4D97-AF65-F5344CB8AC3E}">
        <p14:creationId xmlns:p14="http://schemas.microsoft.com/office/powerpoint/2010/main" val="1159718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Architectures of windowing systems</a:t>
            </a:r>
            <a:endParaRPr lang="en-US" dirty="0"/>
          </a:p>
        </p:txBody>
      </p:sp>
      <p:sp>
        <p:nvSpPr>
          <p:cNvPr id="3" name="Content Placeholder 2"/>
          <p:cNvSpPr>
            <a:spLocks noGrp="1"/>
          </p:cNvSpPr>
          <p:nvPr>
            <p:ph idx="1"/>
          </p:nvPr>
        </p:nvSpPr>
        <p:spPr>
          <a:xfrm>
            <a:off x="838199" y="1825625"/>
            <a:ext cx="5437909" cy="4351338"/>
          </a:xfrm>
        </p:spPr>
        <p:txBody>
          <a:bodyPr>
            <a:normAutofit/>
          </a:bodyPr>
          <a:lstStyle/>
          <a:p>
            <a:pPr algn="just"/>
            <a:r>
              <a:rPr lang="en-US" sz="2000" dirty="0" smtClean="0">
                <a:latin typeface="Times New Roman" panose="02020603050405020304" pitchFamily="18" charset="0"/>
                <a:cs typeface="Times New Roman" panose="02020603050405020304" pitchFamily="18" charset="0"/>
              </a:rPr>
              <a:t>The third option provides the most portability, as the management function is written as a separate application in its own right and so can provide an interface to other application programs that is generic across all operating systems. </a:t>
            </a:r>
          </a:p>
          <a:p>
            <a:pPr algn="just"/>
            <a:r>
              <a:rPr lang="en-US" sz="2000" dirty="0" smtClean="0">
                <a:latin typeface="Times New Roman" panose="02020603050405020304" pitchFamily="18" charset="0"/>
                <a:cs typeface="Times New Roman" panose="02020603050405020304" pitchFamily="18" charset="0"/>
              </a:rPr>
              <a:t>This final option is referred to as the client–server architecture, and is depicted in Figure 8.2.</a:t>
            </a:r>
            <a:endParaRPr lang="en-US" sz="20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6176729" y="1593360"/>
            <a:ext cx="4194412" cy="4352921"/>
          </a:xfrm>
          <a:prstGeom prst="rect">
            <a:avLst/>
          </a:prstGeom>
        </p:spPr>
      </p:pic>
    </p:spTree>
    <p:extLst>
      <p:ext uri="{BB962C8B-B14F-4D97-AF65-F5344CB8AC3E}">
        <p14:creationId xmlns:p14="http://schemas.microsoft.com/office/powerpoint/2010/main" val="3973125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Architectures of windowing systems</a:t>
            </a:r>
            <a:endParaRPr lang="en-US" dirty="0"/>
          </a:p>
        </p:txBody>
      </p:sp>
      <p:sp>
        <p:nvSpPr>
          <p:cNvPr id="5" name="Rectangle 4"/>
          <p:cNvSpPr/>
          <p:nvPr/>
        </p:nvSpPr>
        <p:spPr>
          <a:xfrm>
            <a:off x="838200" y="1953320"/>
            <a:ext cx="6096000" cy="2308324"/>
          </a:xfrm>
          <a:prstGeom prst="rect">
            <a:avLst/>
          </a:prstGeom>
        </p:spPr>
        <p:txBody>
          <a:bodyPr>
            <a:spAutoFit/>
          </a:bodyPr>
          <a:lstStyle/>
          <a:p>
            <a:pPr marL="285750" indent="-28575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In practice, the divide among these proposed architectures is not so clear and any actual interactive application or set of applications operating within a window system may share features with any one of these three conceptual architectures.</a:t>
            </a:r>
          </a:p>
          <a:p>
            <a:pPr marL="285750" indent="-28575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A classic example of a window system based on the client–server architecture is the industry-standard X Window System (Release 11), developed at the Massachusetts Institute of Technology (MIT) in the mid-1980s.</a:t>
            </a:r>
            <a:endParaRPr lang="en-US"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stretch>
            <a:fillRect/>
          </a:stretch>
        </p:blipFill>
        <p:spPr>
          <a:xfrm>
            <a:off x="6934200" y="1953320"/>
            <a:ext cx="4505954" cy="3191320"/>
          </a:xfrm>
          <a:prstGeom prst="rect">
            <a:avLst/>
          </a:prstGeom>
        </p:spPr>
      </p:pic>
    </p:spTree>
    <p:extLst>
      <p:ext uri="{BB962C8B-B14F-4D97-AF65-F5344CB8AC3E}">
        <p14:creationId xmlns:p14="http://schemas.microsoft.com/office/powerpoint/2010/main" val="1734559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Architectures of windowing systems</a:t>
            </a:r>
            <a:endParaRPr lang="en-US" dirty="0"/>
          </a:p>
        </p:txBody>
      </p:sp>
      <p:sp>
        <p:nvSpPr>
          <p:cNvPr id="3" name="Content Placeholder 2"/>
          <p:cNvSpPr>
            <a:spLocks noGrp="1"/>
          </p:cNvSpPr>
          <p:nvPr>
            <p:ph idx="1"/>
          </p:nvPr>
        </p:nvSpPr>
        <p:spPr/>
        <p:txBody>
          <a:bodyPr>
            <a:normAutofit lnSpcReduction="10000"/>
          </a:bodyPr>
          <a:lstStyle/>
          <a:p>
            <a:r>
              <a:rPr lang="en-US" sz="2000" dirty="0" smtClean="0">
                <a:latin typeface="Times New Roman" panose="02020603050405020304" pitchFamily="18" charset="0"/>
                <a:cs typeface="Times New Roman" panose="02020603050405020304" pitchFamily="18" charset="0"/>
              </a:rPr>
              <a:t>The X Protocol can be implemented on different computers and operating systems, making X more device independent. </a:t>
            </a:r>
          </a:p>
          <a:p>
            <a:r>
              <a:rPr lang="en-US" sz="2000" dirty="0" smtClean="0">
                <a:latin typeface="Times New Roman" panose="02020603050405020304" pitchFamily="18" charset="0"/>
                <a:cs typeface="Times New Roman" panose="02020603050405020304" pitchFamily="18" charset="0"/>
              </a:rPr>
              <a:t>It also means that client and server need not even be on the same system in order to communicate to the server. </a:t>
            </a:r>
          </a:p>
          <a:p>
            <a:r>
              <a:rPr lang="en-US" sz="2000" dirty="0" smtClean="0">
                <a:latin typeface="Times New Roman" panose="02020603050405020304" pitchFamily="18" charset="0"/>
                <a:cs typeface="Times New Roman" panose="02020603050405020304" pitchFamily="18" charset="0"/>
              </a:rPr>
              <a:t>Each client of the X11 server is associated to an abstract terminal or main window. The X server performs the following tasks: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a:t>
            </a:r>
            <a:r>
              <a:rPr lang="en-US" sz="2000" dirty="0" smtClean="0">
                <a:latin typeface="Times New Roman" panose="02020603050405020304" pitchFamily="18" charset="0"/>
                <a:cs typeface="Times New Roman" panose="02020603050405020304" pitchFamily="18" charset="0"/>
              </a:rPr>
              <a:t>llows (or denies) access to the display from multiple client applications; </a:t>
            </a:r>
          </a:p>
          <a:p>
            <a:pPr>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Interprets requests from clients to perform screen operations or provide other information; </a:t>
            </a:r>
          </a:p>
          <a:p>
            <a:pPr>
              <a:buFont typeface="Wingdings" panose="05000000000000000000" pitchFamily="2" charset="2"/>
              <a:buChar char="Ø"/>
            </a:pPr>
            <a:r>
              <a:rPr lang="en-US" sz="2000" dirty="0" err="1" smtClean="0">
                <a:latin typeface="Times New Roman" panose="02020603050405020304" pitchFamily="18" charset="0"/>
                <a:cs typeface="Times New Roman" panose="02020603050405020304" pitchFamily="18" charset="0"/>
              </a:rPr>
              <a:t>Demultiplexes</a:t>
            </a:r>
            <a:r>
              <a:rPr lang="en-US" sz="2000" dirty="0" smtClean="0">
                <a:latin typeface="Times New Roman" panose="02020603050405020304" pitchFamily="18" charset="0"/>
                <a:cs typeface="Times New Roman" panose="02020603050405020304" pitchFamily="18" charset="0"/>
              </a:rPr>
              <a:t> the stream of physical input events from the user and passes them to the appropriate client;</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a:t>
            </a:r>
            <a:r>
              <a:rPr lang="en-US" sz="2000" dirty="0" smtClean="0">
                <a:latin typeface="Times New Roman" panose="02020603050405020304" pitchFamily="18" charset="0"/>
                <a:cs typeface="Times New Roman" panose="02020603050405020304" pitchFamily="18" charset="0"/>
              </a:rPr>
              <a:t>inimizes the traffic along the network by relieving the clients from having to keep track of certain display information, like fonts, in complex data structures that the clients can access by ID numbers.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6063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PROGRAMMING THE APPLICATION</a:t>
            </a:r>
            <a:endParaRPr lang="en-US" dirty="0"/>
          </a:p>
        </p:txBody>
      </p:sp>
      <p:sp>
        <p:nvSpPr>
          <p:cNvPr id="3" name="Content Placeholder 2"/>
          <p:cNvSpPr>
            <a:spLocks noGrp="1"/>
          </p:cNvSpPr>
          <p:nvPr>
            <p:ph idx="1"/>
          </p:nvPr>
        </p:nvSpPr>
        <p:spPr/>
        <p:txBody>
          <a:bodyPr>
            <a:normAutofit/>
          </a:bodyPr>
          <a:lstStyle/>
          <a:p>
            <a:r>
              <a:rPr lang="en-US" sz="2000" dirty="0" smtClean="0">
                <a:latin typeface="Times New Roman" panose="02020603050405020304" pitchFamily="18" charset="0"/>
                <a:cs typeface="Times New Roman" panose="02020603050405020304" pitchFamily="18" charset="0"/>
              </a:rPr>
              <a:t>Interactive applications are generally user driven in the sense that the action the application takes is determined by the input received from the user. </a:t>
            </a:r>
          </a:p>
          <a:p>
            <a:r>
              <a:rPr lang="en-US" sz="2000" dirty="0" smtClean="0">
                <a:latin typeface="Times New Roman" panose="02020603050405020304" pitchFamily="18" charset="0"/>
                <a:cs typeface="Times New Roman" panose="02020603050405020304" pitchFamily="18" charset="0"/>
              </a:rPr>
              <a:t>We describe two programming paradigms which can be used to organize the flow of control within the application. </a:t>
            </a:r>
          </a:p>
          <a:p>
            <a:r>
              <a:rPr lang="en-US" sz="2000" dirty="0" smtClean="0">
                <a:latin typeface="Times New Roman" panose="02020603050405020304" pitchFamily="18" charset="0"/>
                <a:cs typeface="Times New Roman" panose="02020603050405020304" pitchFamily="18" charset="0"/>
              </a:rPr>
              <a:t>The windowing system does not necessarily determine which of these two paradigms is to be followed.</a:t>
            </a:r>
          </a:p>
          <a:p>
            <a:r>
              <a:rPr lang="en-US" sz="2000" dirty="0" smtClean="0">
                <a:latin typeface="Times New Roman" panose="02020603050405020304" pitchFamily="18" charset="0"/>
                <a:cs typeface="Times New Roman" panose="02020603050405020304" pitchFamily="18" charset="0"/>
              </a:rPr>
              <a:t>The first programming paradigm is the </a:t>
            </a:r>
            <a:r>
              <a:rPr lang="en-US" sz="2000" b="1" dirty="0" smtClean="0">
                <a:latin typeface="Times New Roman" panose="02020603050405020304" pitchFamily="18" charset="0"/>
                <a:cs typeface="Times New Roman" panose="02020603050405020304" pitchFamily="18" charset="0"/>
              </a:rPr>
              <a:t>read–evaluation loop</a:t>
            </a:r>
            <a:r>
              <a:rPr lang="en-US" sz="2000" dirty="0" smtClean="0">
                <a:latin typeface="Times New Roman" panose="02020603050405020304" pitchFamily="18" charset="0"/>
                <a:cs typeface="Times New Roman" panose="02020603050405020304" pitchFamily="18" charset="0"/>
              </a:rPr>
              <a:t>, which is internal to the application program itself Programming on the Macintosh follows this paradigm. </a:t>
            </a:r>
          </a:p>
          <a:p>
            <a:r>
              <a:rPr lang="en-US" sz="2000" dirty="0" smtClean="0">
                <a:latin typeface="Times New Roman" panose="02020603050405020304" pitchFamily="18" charset="0"/>
                <a:cs typeface="Times New Roman" panose="02020603050405020304" pitchFamily="18" charset="0"/>
              </a:rPr>
              <a:t>The server sends user inputs as structured events to the client application. As far as the server is concerned, the only importance of the event is the client to which it must be directed. </a:t>
            </a:r>
          </a:p>
          <a:p>
            <a:r>
              <a:rPr lang="en-US" sz="2000" dirty="0" smtClean="0">
                <a:latin typeface="Times New Roman" panose="02020603050405020304" pitchFamily="18" charset="0"/>
                <a:cs typeface="Times New Roman" panose="02020603050405020304" pitchFamily="18" charset="0"/>
              </a:rPr>
              <a:t>The client application is programmed to read any event passed to it and determine all of the application-specific behavior that results as a response to it.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7641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PROGRAMMING THE APPLICATION</a:t>
            </a:r>
            <a:endParaRPr lang="en-US" dirty="0"/>
          </a:p>
        </p:txBody>
      </p:sp>
      <p:pic>
        <p:nvPicPr>
          <p:cNvPr id="4" name="Content Placeholder 3"/>
          <p:cNvPicPr>
            <a:picLocks noGrp="1" noChangeAspect="1"/>
          </p:cNvPicPr>
          <p:nvPr>
            <p:ph idx="1"/>
          </p:nvPr>
        </p:nvPicPr>
        <p:blipFill>
          <a:blip r:embed="rId2"/>
          <a:stretch>
            <a:fillRect/>
          </a:stretch>
        </p:blipFill>
        <p:spPr>
          <a:xfrm>
            <a:off x="6487865" y="1780874"/>
            <a:ext cx="4353533" cy="3277057"/>
          </a:xfrm>
          <a:prstGeom prst="rect">
            <a:avLst/>
          </a:prstGeom>
        </p:spPr>
      </p:pic>
      <p:sp>
        <p:nvSpPr>
          <p:cNvPr id="5" name="Rectangle 4"/>
          <p:cNvSpPr/>
          <p:nvPr/>
        </p:nvSpPr>
        <p:spPr>
          <a:xfrm>
            <a:off x="838200" y="1944869"/>
            <a:ext cx="6096000" cy="1200329"/>
          </a:xfrm>
          <a:prstGeom prst="rect">
            <a:avLst/>
          </a:prstGeom>
        </p:spPr>
        <p:txBody>
          <a:bodyPr>
            <a:spAutoFit/>
          </a:bodyPr>
          <a:lstStyle/>
          <a:p>
            <a:r>
              <a:rPr lang="en-US" dirty="0" smtClean="0">
                <a:latin typeface="Times New Roman" panose="02020603050405020304" pitchFamily="18" charset="0"/>
                <a:cs typeface="Times New Roman" panose="02020603050405020304" pitchFamily="18" charset="0"/>
              </a:rPr>
              <a:t>The logical flow of the client application is indicated in the left most box of Figure 8.4. </a:t>
            </a:r>
          </a:p>
          <a:p>
            <a:r>
              <a:rPr lang="en-US" dirty="0" smtClean="0">
                <a:latin typeface="Times New Roman" panose="02020603050405020304" pitchFamily="18" charset="0"/>
                <a:cs typeface="Times New Roman" panose="02020603050405020304" pitchFamily="18" charset="0"/>
              </a:rPr>
              <a:t>In </a:t>
            </a:r>
            <a:r>
              <a:rPr lang="en-US" dirty="0" err="1" smtClean="0">
                <a:latin typeface="Times New Roman" panose="02020603050405020304" pitchFamily="18" charset="0"/>
                <a:cs typeface="Times New Roman" panose="02020603050405020304" pitchFamily="18" charset="0"/>
              </a:rPr>
              <a:t>pseudocode</a:t>
            </a:r>
            <a:r>
              <a:rPr lang="en-US" dirty="0" smtClean="0">
                <a:latin typeface="Times New Roman" panose="02020603050405020304" pitchFamily="18" charset="0"/>
                <a:cs typeface="Times New Roman" panose="02020603050405020304" pitchFamily="18" charset="0"/>
              </a:rPr>
              <a:t> the read–evaluation loop would look like the following:</a:t>
            </a:r>
            <a:endParaRPr lang="en-US"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stretch>
            <a:fillRect/>
          </a:stretch>
        </p:blipFill>
        <p:spPr>
          <a:xfrm>
            <a:off x="902261" y="3320405"/>
            <a:ext cx="3953427" cy="1562318"/>
          </a:xfrm>
          <a:prstGeom prst="rect">
            <a:avLst/>
          </a:prstGeom>
        </p:spPr>
      </p:pic>
      <p:pic>
        <p:nvPicPr>
          <p:cNvPr id="7" name="Picture 6"/>
          <p:cNvPicPr>
            <a:picLocks noChangeAspect="1"/>
          </p:cNvPicPr>
          <p:nvPr/>
        </p:nvPicPr>
        <p:blipFill>
          <a:blip r:embed="rId4"/>
          <a:stretch>
            <a:fillRect/>
          </a:stretch>
        </p:blipFill>
        <p:spPr>
          <a:xfrm>
            <a:off x="696295" y="4572087"/>
            <a:ext cx="3467584" cy="971686"/>
          </a:xfrm>
          <a:prstGeom prst="rect">
            <a:avLst/>
          </a:prstGeom>
        </p:spPr>
      </p:pic>
    </p:spTree>
    <p:extLst>
      <p:ext uri="{BB962C8B-B14F-4D97-AF65-F5344CB8AC3E}">
        <p14:creationId xmlns:p14="http://schemas.microsoft.com/office/powerpoint/2010/main" val="2180346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PROGRAMMING THE APPLICATION</a:t>
            </a:r>
            <a:endParaRPr lang="en-US" dirty="0"/>
          </a:p>
        </p:txBody>
      </p:sp>
      <p:sp>
        <p:nvSpPr>
          <p:cNvPr id="3" name="Content Placeholder 2"/>
          <p:cNvSpPr>
            <a:spLocks noGrp="1"/>
          </p:cNvSpPr>
          <p:nvPr>
            <p:ph idx="1"/>
          </p:nvPr>
        </p:nvSpPr>
        <p:spPr>
          <a:xfrm>
            <a:off x="838200" y="1825625"/>
            <a:ext cx="5171902" cy="4351338"/>
          </a:xfrm>
        </p:spPr>
        <p:txBody>
          <a:bodyPr>
            <a:normAutofit fontScale="85000" lnSpcReduction="20000"/>
          </a:bodyPr>
          <a:lstStyle/>
          <a:p>
            <a:pPr algn="just"/>
            <a:r>
              <a:rPr lang="en-US" sz="2000" dirty="0" smtClean="0">
                <a:latin typeface="Times New Roman" panose="02020603050405020304" pitchFamily="18" charset="0"/>
                <a:cs typeface="Times New Roman" panose="02020603050405020304" pitchFamily="18" charset="0"/>
              </a:rPr>
              <a:t>The other programming paradigm is notification based, in which the main control loop for the event processing does not reside within the application. </a:t>
            </a:r>
          </a:p>
          <a:p>
            <a:pPr algn="just"/>
            <a:r>
              <a:rPr lang="en-US" sz="2000" dirty="0" smtClean="0">
                <a:latin typeface="Times New Roman" panose="02020603050405020304" pitchFamily="18" charset="0"/>
                <a:cs typeface="Times New Roman" panose="02020603050405020304" pitchFamily="18" charset="0"/>
              </a:rPr>
              <a:t>Instead, a centralized </a:t>
            </a:r>
            <a:r>
              <a:rPr lang="en-US" sz="2000" dirty="0" err="1" smtClean="0">
                <a:latin typeface="Times New Roman" panose="02020603050405020304" pitchFamily="18" charset="0"/>
                <a:cs typeface="Times New Roman" panose="02020603050405020304" pitchFamily="18" charset="0"/>
              </a:rPr>
              <a:t>notifier</a:t>
            </a:r>
            <a:r>
              <a:rPr lang="en-US" sz="2000" dirty="0" smtClean="0">
                <a:latin typeface="Times New Roman" panose="02020603050405020304" pitchFamily="18" charset="0"/>
                <a:cs typeface="Times New Roman" panose="02020603050405020304" pitchFamily="18" charset="0"/>
              </a:rPr>
              <a:t> receives events from the window system and filters them to the application program in a way declared by the program (see Figure 8.5). </a:t>
            </a:r>
          </a:p>
          <a:p>
            <a:pPr algn="just"/>
            <a:r>
              <a:rPr lang="en-US" sz="2000" dirty="0" smtClean="0">
                <a:latin typeface="Times New Roman" panose="02020603050405020304" pitchFamily="18" charset="0"/>
                <a:cs typeface="Times New Roman" panose="02020603050405020304" pitchFamily="18" charset="0"/>
              </a:rPr>
              <a:t>The application program informs the </a:t>
            </a:r>
            <a:r>
              <a:rPr lang="en-US" sz="2000" dirty="0" err="1" smtClean="0">
                <a:latin typeface="Times New Roman" panose="02020603050405020304" pitchFamily="18" charset="0"/>
                <a:cs typeface="Times New Roman" panose="02020603050405020304" pitchFamily="18" charset="0"/>
              </a:rPr>
              <a:t>notifier</a:t>
            </a:r>
            <a:r>
              <a:rPr lang="en-US" sz="2000" dirty="0" smtClean="0">
                <a:latin typeface="Times New Roman" panose="02020603050405020304" pitchFamily="18" charset="0"/>
                <a:cs typeface="Times New Roman" panose="02020603050405020304" pitchFamily="18" charset="0"/>
              </a:rPr>
              <a:t> what events are of interest to it, and for each event declares one of its own procedures as a callback before turning control over to the </a:t>
            </a:r>
            <a:r>
              <a:rPr lang="en-US" sz="2000" dirty="0" err="1" smtClean="0">
                <a:latin typeface="Times New Roman" panose="02020603050405020304" pitchFamily="18" charset="0"/>
                <a:cs typeface="Times New Roman" panose="02020603050405020304" pitchFamily="18" charset="0"/>
              </a:rPr>
              <a:t>notifier</a:t>
            </a:r>
            <a:r>
              <a:rPr lang="en-US" sz="2000" dirty="0" smtClean="0">
                <a:latin typeface="Times New Roman" panose="02020603050405020304" pitchFamily="18" charset="0"/>
                <a:cs typeface="Times New Roman" panose="02020603050405020304" pitchFamily="18" charset="0"/>
              </a:rPr>
              <a:t>. </a:t>
            </a:r>
          </a:p>
          <a:p>
            <a:pPr algn="just"/>
            <a:r>
              <a:rPr lang="en-US" sz="2000" dirty="0" smtClean="0">
                <a:latin typeface="Times New Roman" panose="02020603050405020304" pitchFamily="18" charset="0"/>
                <a:cs typeface="Times New Roman" panose="02020603050405020304" pitchFamily="18" charset="0"/>
              </a:rPr>
              <a:t>When the </a:t>
            </a:r>
            <a:r>
              <a:rPr lang="en-US" sz="2000" dirty="0" err="1" smtClean="0">
                <a:latin typeface="Times New Roman" panose="02020603050405020304" pitchFamily="18" charset="0"/>
                <a:cs typeface="Times New Roman" panose="02020603050405020304" pitchFamily="18" charset="0"/>
              </a:rPr>
              <a:t>notifier</a:t>
            </a:r>
            <a:r>
              <a:rPr lang="en-US" sz="2000" dirty="0" smtClean="0">
                <a:latin typeface="Times New Roman" panose="02020603050405020304" pitchFamily="18" charset="0"/>
                <a:cs typeface="Times New Roman" panose="02020603050405020304" pitchFamily="18" charset="0"/>
              </a:rPr>
              <a:t> receives an event from the window system, it sees if that event was identified by the application program and, if so, passes the event and control over to the callback procedure that was registered for the event.</a:t>
            </a:r>
          </a:p>
          <a:p>
            <a:pPr algn="just"/>
            <a:r>
              <a:rPr lang="en-US" sz="2000" dirty="0" smtClean="0">
                <a:latin typeface="Times New Roman" panose="02020603050405020304" pitchFamily="18" charset="0"/>
                <a:cs typeface="Times New Roman" panose="02020603050405020304" pitchFamily="18" charset="0"/>
              </a:rPr>
              <a:t>After processing, the callback procedure returns control to the </a:t>
            </a:r>
            <a:r>
              <a:rPr lang="en-US" sz="2000" dirty="0" err="1" smtClean="0">
                <a:latin typeface="Times New Roman" panose="02020603050405020304" pitchFamily="18" charset="0"/>
                <a:cs typeface="Times New Roman" panose="02020603050405020304" pitchFamily="18" charset="0"/>
              </a:rPr>
              <a:t>notifier</a:t>
            </a:r>
            <a:r>
              <a:rPr lang="en-US" sz="2000" dirty="0" smtClean="0">
                <a:latin typeface="Times New Roman" panose="02020603050405020304" pitchFamily="18" charset="0"/>
                <a:cs typeface="Times New Roman" panose="02020603050405020304" pitchFamily="18" charset="0"/>
              </a:rPr>
              <a:t>, either telling it to continue receiving events or requesting termination.</a:t>
            </a:r>
            <a:endParaRPr lang="en-US"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6096000" y="1690688"/>
            <a:ext cx="5592792" cy="4251544"/>
          </a:xfrm>
          <a:prstGeom prst="rect">
            <a:avLst/>
          </a:prstGeom>
        </p:spPr>
      </p:pic>
    </p:spTree>
    <p:extLst>
      <p:ext uri="{BB962C8B-B14F-4D97-AF65-F5344CB8AC3E}">
        <p14:creationId xmlns:p14="http://schemas.microsoft.com/office/powerpoint/2010/main" val="1278221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USING TOOLKITS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77500" lnSpcReduction="20000"/>
          </a:bodyPr>
          <a:lstStyle/>
          <a:p>
            <a:r>
              <a:rPr lang="en-US" dirty="0">
                <a:latin typeface="Times New Roman" panose="02020603050405020304" pitchFamily="18" charset="0"/>
                <a:cs typeface="Times New Roman" panose="02020603050405020304" pitchFamily="18" charset="0"/>
              </a:rPr>
              <a:t>A</a:t>
            </a:r>
            <a:r>
              <a:rPr lang="en-US" dirty="0" smtClean="0">
                <a:latin typeface="Times New Roman" panose="02020603050405020304" pitchFamily="18" charset="0"/>
                <a:cs typeface="Times New Roman" panose="02020603050405020304" pitchFamily="18" charset="0"/>
              </a:rPr>
              <a:t> key feature of WIMP interfaces from the user’s perspective is that input and output behaviors are intrinsically linked to independent entities on the display screen.</a:t>
            </a:r>
          </a:p>
          <a:p>
            <a:r>
              <a:rPr lang="en-US" dirty="0" smtClean="0">
                <a:latin typeface="Times New Roman" panose="02020603050405020304" pitchFamily="18" charset="0"/>
                <a:cs typeface="Times New Roman" panose="02020603050405020304" pitchFamily="18" charset="0"/>
              </a:rPr>
              <a:t>This creates the illusion that the entities on the screen are the objects of interest interaction objects we have called them and that is necessary for the action world of a direct manipulation interface. A classic example is the mouse as a pointing device.</a:t>
            </a:r>
          </a:p>
          <a:p>
            <a:r>
              <a:rPr lang="en-US" dirty="0" smtClean="0">
                <a:latin typeface="Times New Roman" panose="02020603050405020304" pitchFamily="18" charset="0"/>
                <a:cs typeface="Times New Roman" panose="02020603050405020304" pitchFamily="18" charset="0"/>
              </a:rPr>
              <a:t>The input coming from the hardware device is separate from the output of the mouse cursor on the display screen. </a:t>
            </a:r>
          </a:p>
          <a:p>
            <a:r>
              <a:rPr lang="en-US" dirty="0" smtClean="0">
                <a:latin typeface="Times New Roman" panose="02020603050405020304" pitchFamily="18" charset="0"/>
                <a:cs typeface="Times New Roman" panose="02020603050405020304" pitchFamily="18" charset="0"/>
              </a:rPr>
              <a:t>However, since the visual movement of the screen cursor is linked with the physical movement of the mouse device, the user feels as if he is actually moving the visual cursor. </a:t>
            </a:r>
          </a:p>
          <a:p>
            <a:r>
              <a:rPr lang="en-US" dirty="0" smtClean="0">
                <a:latin typeface="Times New Roman" panose="02020603050405020304" pitchFamily="18" charset="0"/>
                <a:cs typeface="Times New Roman" panose="02020603050405020304" pitchFamily="18" charset="0"/>
              </a:rPr>
              <a:t>Even though input and output are actually separate, the illusion causes the user to treat them as one; indeed, both the visual cursor and the physical device are referred to simply as ‘the mouse’. </a:t>
            </a:r>
          </a:p>
          <a:p>
            <a:r>
              <a:rPr lang="en-US" dirty="0" smtClean="0">
                <a:latin typeface="Times New Roman" panose="02020603050405020304" pitchFamily="18" charset="0"/>
                <a:cs typeface="Times New Roman" panose="02020603050405020304" pitchFamily="18" charset="0"/>
              </a:rPr>
              <a:t>In situations where this link is broken, it is easy to see the user’s frustration.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35175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USING TOOLKITS</a:t>
            </a:r>
            <a:endParaRPr lang="en-US" dirty="0"/>
          </a:p>
        </p:txBody>
      </p:sp>
      <p:sp>
        <p:nvSpPr>
          <p:cNvPr id="3" name="Content Placeholder 2"/>
          <p:cNvSpPr>
            <a:spLocks noGrp="1"/>
          </p:cNvSpPr>
          <p:nvPr>
            <p:ph idx="1"/>
          </p:nvPr>
        </p:nvSpPr>
        <p:spPr>
          <a:xfrm>
            <a:off x="838200" y="1343487"/>
            <a:ext cx="10807931" cy="4351338"/>
          </a:xfrm>
        </p:spPr>
        <p:txBody>
          <a:bodyPr>
            <a:normAutofit/>
          </a:bodyPr>
          <a:lstStyle/>
          <a:p>
            <a:r>
              <a:rPr lang="en-US" sz="2000" dirty="0" smtClean="0">
                <a:latin typeface="Times New Roman" panose="02020603050405020304" pitchFamily="18" charset="0"/>
                <a:cs typeface="Times New Roman" panose="02020603050405020304" pitchFamily="18" charset="0"/>
              </a:rPr>
              <a:t>In Figure 8.8, we show an example of how input and output are combined for interaction with a button object. </a:t>
            </a:r>
          </a:p>
          <a:p>
            <a:r>
              <a:rPr lang="en-US" sz="2000" dirty="0" smtClean="0">
                <a:latin typeface="Times New Roman" panose="02020603050405020304" pitchFamily="18" charset="0"/>
                <a:cs typeface="Times New Roman" panose="02020603050405020304" pitchFamily="18" charset="0"/>
              </a:rPr>
              <a:t>As the user moves the mouse cursor over the button, it changes to a finger to suggest that the user can push it. </a:t>
            </a:r>
          </a:p>
          <a:p>
            <a:r>
              <a:rPr lang="en-US" sz="2000" dirty="0" smtClean="0">
                <a:latin typeface="Times New Roman" panose="02020603050405020304" pitchFamily="18" charset="0"/>
                <a:cs typeface="Times New Roman" panose="02020603050405020304" pitchFamily="18" charset="0"/>
              </a:rPr>
              <a:t>Pressing the mouse button down causes the button to be highlighted and might even make an audible click like the keys on some keyboards, providing immediate feedback that the button has been pushed. </a:t>
            </a:r>
          </a:p>
          <a:p>
            <a:r>
              <a:rPr lang="en-US" sz="2000" dirty="0" smtClean="0">
                <a:latin typeface="Times New Roman" panose="02020603050405020304" pitchFamily="18" charset="0"/>
                <a:cs typeface="Times New Roman" panose="02020603050405020304" pitchFamily="18" charset="0"/>
              </a:rPr>
              <a:t>Releasing the mouse button </a:t>
            </a:r>
            <a:r>
              <a:rPr lang="en-US" sz="2000" dirty="0" err="1" smtClean="0">
                <a:latin typeface="Times New Roman" panose="02020603050405020304" pitchFamily="18" charset="0"/>
                <a:cs typeface="Times New Roman" panose="02020603050405020304" pitchFamily="18" charset="0"/>
              </a:rPr>
              <a:t>unhighlights</a:t>
            </a:r>
            <a:r>
              <a:rPr lang="en-US" sz="2000" dirty="0" smtClean="0">
                <a:latin typeface="Times New Roman" panose="02020603050405020304" pitchFamily="18" charset="0"/>
                <a:cs typeface="Times New Roman" panose="02020603050405020304" pitchFamily="18" charset="0"/>
              </a:rPr>
              <a:t> the button and moving the mouse off the button changes the cursor to its initial shape, indicating that the user is no longer over the active area of the button.</a:t>
            </a:r>
            <a:endParaRPr lang="en-US"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3662389" y="4293121"/>
            <a:ext cx="4584589" cy="2066723"/>
          </a:xfrm>
          <a:prstGeom prst="rect">
            <a:avLst/>
          </a:prstGeom>
        </p:spPr>
      </p:pic>
    </p:spTree>
    <p:extLst>
      <p:ext uri="{BB962C8B-B14F-4D97-AF65-F5344CB8AC3E}">
        <p14:creationId xmlns:p14="http://schemas.microsoft.com/office/powerpoint/2010/main" val="20743071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latin typeface="Times New Roman" panose="02020603050405020304" pitchFamily="18" charset="0"/>
                <a:cs typeface="Times New Roman" panose="02020603050405020304" pitchFamily="18" charset="0"/>
              </a:rPr>
              <a:t>USER INTERFACE MANAGEMENT SYSTEMS</a:t>
            </a:r>
            <a:endParaRPr lang="en-US"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000" dirty="0" smtClean="0">
                <a:latin typeface="Times New Roman" panose="02020603050405020304" pitchFamily="18" charset="0"/>
                <a:cs typeface="Times New Roman" panose="02020603050405020304" pitchFamily="18" charset="0"/>
              </a:rPr>
              <a:t>Despite the availability of toolkits and the valuable abstraction they provide programmers, there are still significant hurdles to overcome in the specification, design and implementation of interactive systems.</a:t>
            </a:r>
          </a:p>
          <a:p>
            <a:r>
              <a:rPr lang="en-US" sz="2000" dirty="0" smtClean="0">
                <a:latin typeface="Times New Roman" panose="02020603050405020304" pitchFamily="18" charset="0"/>
                <a:cs typeface="Times New Roman" panose="02020603050405020304" pitchFamily="18" charset="0"/>
              </a:rPr>
              <a:t>Toolkits provide only a limited range of interaction objects, limiting the kinds of interactive behavior allowed between user and system.</a:t>
            </a:r>
          </a:p>
          <a:p>
            <a:r>
              <a:rPr lang="en-US" sz="2000" dirty="0" smtClean="0">
                <a:latin typeface="Times New Roman" panose="02020603050405020304" pitchFamily="18" charset="0"/>
                <a:cs typeface="Times New Roman" panose="02020603050405020304" pitchFamily="18" charset="0"/>
              </a:rPr>
              <a:t>Toolkits are expensive to create and are still very difficult to use by non-programmers. </a:t>
            </a:r>
          </a:p>
          <a:p>
            <a:r>
              <a:rPr lang="en-US" sz="2000" dirty="0" smtClean="0">
                <a:latin typeface="Times New Roman" panose="02020603050405020304" pitchFamily="18" charset="0"/>
                <a:cs typeface="Times New Roman" panose="02020603050405020304" pitchFamily="18" charset="0"/>
              </a:rPr>
              <a:t>Even experienced programmers will have difficulty using them to produce an interface that is predictably usable. </a:t>
            </a:r>
          </a:p>
          <a:p>
            <a:r>
              <a:rPr lang="en-US" sz="2000" dirty="0" smtClean="0">
                <a:latin typeface="Times New Roman" panose="02020603050405020304" pitchFamily="18" charset="0"/>
                <a:cs typeface="Times New Roman" panose="02020603050405020304" pitchFamily="18" charset="0"/>
              </a:rPr>
              <a:t>There is a need for additional support for programmers in the design and use of toolkits to overcome their deficiencies.</a:t>
            </a:r>
          </a:p>
          <a:p>
            <a:r>
              <a:rPr lang="en-US" sz="2000" dirty="0" smtClean="0">
                <a:latin typeface="Times New Roman" panose="02020603050405020304" pitchFamily="18" charset="0"/>
                <a:cs typeface="Times New Roman" panose="02020603050405020304" pitchFamily="18" charset="0"/>
              </a:rPr>
              <a:t>The set of programming and design techniques which are supposed to add another level of services for interactive system design beyond the toolkit level are </a:t>
            </a:r>
            <a:r>
              <a:rPr lang="en-US" sz="2000" b="1" dirty="0" smtClean="0">
                <a:latin typeface="Times New Roman" panose="02020603050405020304" pitchFamily="18" charset="0"/>
                <a:cs typeface="Times New Roman" panose="02020603050405020304" pitchFamily="18" charset="0"/>
              </a:rPr>
              <a:t>user interface management systems, </a:t>
            </a:r>
            <a:r>
              <a:rPr lang="en-US" sz="2000" dirty="0" smtClean="0">
                <a:latin typeface="Times New Roman" panose="02020603050405020304" pitchFamily="18" charset="0"/>
                <a:cs typeface="Times New Roman" panose="02020603050405020304" pitchFamily="18" charset="0"/>
              </a:rPr>
              <a:t>or</a:t>
            </a:r>
            <a:r>
              <a:rPr lang="en-US" sz="2000" b="1" dirty="0" smtClean="0">
                <a:latin typeface="Times New Roman" panose="02020603050405020304" pitchFamily="18" charset="0"/>
                <a:cs typeface="Times New Roman" panose="02020603050405020304" pitchFamily="18" charset="0"/>
              </a:rPr>
              <a:t> UIMS </a:t>
            </a:r>
            <a:r>
              <a:rPr lang="en-US" sz="2000" dirty="0" smtClean="0">
                <a:latin typeface="Times New Roman" panose="02020603050405020304" pitchFamily="18" charset="0"/>
                <a:cs typeface="Times New Roman" panose="02020603050405020304" pitchFamily="18" charset="0"/>
              </a:rPr>
              <a:t>for short</a:t>
            </a:r>
            <a:r>
              <a:rPr lang="en-US" sz="2000" b="1" dirty="0" smtClean="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8544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latin typeface="Times New Roman" panose="02020603050405020304" pitchFamily="18" charset="0"/>
                <a:cs typeface="Times New Roman" panose="02020603050405020304" pitchFamily="18" charset="0"/>
              </a:rPr>
              <a:t>USER INTERFACE MANAGEMENT SYSTEMS</a:t>
            </a:r>
            <a:endParaRPr lang="en-US" sz="2400" dirty="0"/>
          </a:p>
        </p:txBody>
      </p:sp>
      <p:sp>
        <p:nvSpPr>
          <p:cNvPr id="3" name="Content Placeholder 2"/>
          <p:cNvSpPr>
            <a:spLocks noGrp="1"/>
          </p:cNvSpPr>
          <p:nvPr>
            <p:ph idx="1"/>
          </p:nvPr>
        </p:nvSpPr>
        <p:spPr/>
        <p:txBody>
          <a:bodyPr>
            <a:normAutofit/>
          </a:bodyPr>
          <a:lstStyle/>
          <a:p>
            <a:r>
              <a:rPr lang="en-US" sz="2000" dirty="0" smtClean="0">
                <a:latin typeface="Times New Roman" panose="02020603050405020304" pitchFamily="18" charset="0"/>
                <a:cs typeface="Times New Roman" panose="02020603050405020304" pitchFamily="18" charset="0"/>
              </a:rPr>
              <a:t>The term UIMS is used quite widely in both industrial and academic circles and has come to represent a variety of topics. </a:t>
            </a:r>
          </a:p>
          <a:p>
            <a:r>
              <a:rPr lang="en-US" sz="2000" dirty="0" smtClean="0">
                <a:latin typeface="Times New Roman" panose="02020603050405020304" pitchFamily="18" charset="0"/>
                <a:cs typeface="Times New Roman" panose="02020603050405020304" pitchFamily="18" charset="0"/>
              </a:rPr>
              <a:t>The main concerns of a UIMS, for our purposes, are: </a:t>
            </a:r>
          </a:p>
          <a:p>
            <a:r>
              <a:rPr lang="en-US" sz="2000" dirty="0">
                <a:latin typeface="Times New Roman" panose="02020603050405020304" pitchFamily="18" charset="0"/>
                <a:cs typeface="Times New Roman" panose="02020603050405020304" pitchFamily="18" charset="0"/>
              </a:rPr>
              <a:t>A</a:t>
            </a:r>
            <a:r>
              <a:rPr lang="en-US" sz="2000" dirty="0" smtClean="0">
                <a:latin typeface="Times New Roman" panose="02020603050405020304" pitchFamily="18" charset="0"/>
                <a:cs typeface="Times New Roman" panose="02020603050405020304" pitchFamily="18" charset="0"/>
              </a:rPr>
              <a:t> conceptual architecture for the structure of an interactive system which concentrates on a separation between application semantics and presentation; </a:t>
            </a:r>
          </a:p>
          <a:p>
            <a:r>
              <a:rPr lang="en-US" sz="2000" dirty="0">
                <a:latin typeface="Times New Roman" panose="02020603050405020304" pitchFamily="18" charset="0"/>
                <a:cs typeface="Times New Roman" panose="02020603050405020304" pitchFamily="18" charset="0"/>
              </a:rPr>
              <a:t>T</a:t>
            </a:r>
            <a:r>
              <a:rPr lang="en-US" sz="2000" dirty="0" smtClean="0">
                <a:latin typeface="Times New Roman" panose="02020603050405020304" pitchFamily="18" charset="0"/>
                <a:cs typeface="Times New Roman" panose="02020603050405020304" pitchFamily="18" charset="0"/>
              </a:rPr>
              <a:t>echniques for implementing a separated application and presentation whilst preserving the intended connection between them;</a:t>
            </a:r>
          </a:p>
          <a:p>
            <a:r>
              <a:rPr lang="en-US" sz="2000" dirty="0">
                <a:latin typeface="Times New Roman" panose="02020603050405020304" pitchFamily="18" charset="0"/>
                <a:cs typeface="Times New Roman" panose="02020603050405020304" pitchFamily="18" charset="0"/>
              </a:rPr>
              <a:t>S</a:t>
            </a:r>
            <a:r>
              <a:rPr lang="en-US" sz="2000" dirty="0" smtClean="0">
                <a:latin typeface="Times New Roman" panose="02020603050405020304" pitchFamily="18" charset="0"/>
                <a:cs typeface="Times New Roman" panose="02020603050405020304" pitchFamily="18" charset="0"/>
              </a:rPr>
              <a:t>upport techniques for managing, implementing and evaluating a run-time interactive environment.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13057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UIMS as a conceptual architecture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20000"/>
          </a:bodyPr>
          <a:lstStyle/>
          <a:p>
            <a:pPr algn="just"/>
            <a:r>
              <a:rPr lang="en-US" dirty="0" smtClean="0">
                <a:latin typeface="Times New Roman" panose="02020603050405020304" pitchFamily="18" charset="0"/>
                <a:cs typeface="Times New Roman" panose="02020603050405020304" pitchFamily="18" charset="0"/>
              </a:rPr>
              <a:t>A major issue in this area of research is one of separation between the semantics of the application and the interface provided for the user to make use of that semantics.</a:t>
            </a:r>
          </a:p>
          <a:p>
            <a:pPr marL="0" indent="0" algn="just">
              <a:buNone/>
            </a:pPr>
            <a:r>
              <a:rPr lang="en-US" dirty="0" smtClean="0">
                <a:latin typeface="Times New Roman" panose="02020603050405020304" pitchFamily="18" charset="0"/>
                <a:cs typeface="Times New Roman" panose="02020603050405020304" pitchFamily="18" charset="0"/>
              </a:rPr>
              <a:t>   There are many good arguments to support this separation of concerns:</a:t>
            </a:r>
          </a:p>
          <a:p>
            <a:pPr algn="just"/>
            <a:r>
              <a:rPr lang="en-US" b="1" dirty="0" smtClean="0">
                <a:latin typeface="Times New Roman" panose="02020603050405020304" pitchFamily="18" charset="0"/>
                <a:cs typeface="Times New Roman" panose="02020603050405020304" pitchFamily="18" charset="0"/>
              </a:rPr>
              <a:t>Portability</a:t>
            </a:r>
            <a:r>
              <a:rPr lang="en-US" dirty="0" smtClean="0">
                <a:latin typeface="Times New Roman" panose="02020603050405020304" pitchFamily="18" charset="0"/>
                <a:cs typeface="Times New Roman" panose="02020603050405020304" pitchFamily="18" charset="0"/>
              </a:rPr>
              <a:t> To allow the same application to be used on different systems it is best to consider its development separate from its device-dependent interface. </a:t>
            </a:r>
          </a:p>
          <a:p>
            <a:pPr algn="just"/>
            <a:r>
              <a:rPr lang="en-US" b="1" dirty="0" smtClean="0">
                <a:latin typeface="Times New Roman" panose="02020603050405020304" pitchFamily="18" charset="0"/>
                <a:cs typeface="Times New Roman" panose="02020603050405020304" pitchFamily="18" charset="0"/>
              </a:rPr>
              <a:t>Reusability</a:t>
            </a:r>
            <a:r>
              <a:rPr lang="en-US" dirty="0" smtClean="0">
                <a:latin typeface="Times New Roman" panose="02020603050405020304" pitchFamily="18" charset="0"/>
                <a:cs typeface="Times New Roman" panose="02020603050405020304" pitchFamily="18" charset="0"/>
              </a:rPr>
              <a:t> Separation increases the likelihood that components can be reused in order to cut development costs.</a:t>
            </a:r>
          </a:p>
          <a:p>
            <a:pPr algn="just"/>
            <a:r>
              <a:rPr lang="en-US" b="1" dirty="0" smtClean="0">
                <a:latin typeface="Times New Roman" panose="02020603050405020304" pitchFamily="18" charset="0"/>
                <a:cs typeface="Times New Roman" panose="02020603050405020304" pitchFamily="18" charset="0"/>
              </a:rPr>
              <a:t>Multiple interfaces </a:t>
            </a:r>
            <a:r>
              <a:rPr lang="en-US" dirty="0" smtClean="0">
                <a:latin typeface="Times New Roman" panose="02020603050405020304" pitchFamily="18" charset="0"/>
                <a:cs typeface="Times New Roman" panose="02020603050405020304" pitchFamily="18" charset="0"/>
              </a:rPr>
              <a:t>To enhance the interactive flexibility of an application, several different interfaces can be developed to access the same functionality.</a:t>
            </a:r>
          </a:p>
          <a:p>
            <a:pPr algn="just"/>
            <a:r>
              <a:rPr lang="en-US" b="1" dirty="0" smtClean="0">
                <a:latin typeface="Times New Roman" panose="02020603050405020304" pitchFamily="18" charset="0"/>
                <a:cs typeface="Times New Roman" panose="02020603050405020304" pitchFamily="18" charset="0"/>
              </a:rPr>
              <a:t>Customization</a:t>
            </a:r>
            <a:r>
              <a:rPr lang="en-US" dirty="0" smtClean="0">
                <a:latin typeface="Times New Roman" panose="02020603050405020304" pitchFamily="18" charset="0"/>
                <a:cs typeface="Times New Roman" panose="02020603050405020304" pitchFamily="18" charset="0"/>
              </a:rPr>
              <a:t> The user interface can be customized by both the designer and the user to increase its effectiveness without having to alter the underlying application.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31566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UIMS as a conceptual architecture</a:t>
            </a:r>
            <a:endParaRPr lang="en-US" dirty="0"/>
          </a:p>
        </p:txBody>
      </p:sp>
      <p:sp>
        <p:nvSpPr>
          <p:cNvPr id="3" name="Content Placeholder 2"/>
          <p:cNvSpPr>
            <a:spLocks noGrp="1"/>
          </p:cNvSpPr>
          <p:nvPr>
            <p:ph idx="1"/>
          </p:nvPr>
        </p:nvSpPr>
        <p:spPr/>
        <p:txBody>
          <a:bodyPr>
            <a:normAutofit/>
          </a:bodyPr>
          <a:lstStyle/>
          <a:p>
            <a:r>
              <a:rPr lang="en-US" sz="2400" dirty="0" smtClean="0">
                <a:latin typeface="Times New Roman" panose="02020603050405020304" pitchFamily="18" charset="0"/>
                <a:cs typeface="Times New Roman" panose="02020603050405020304" pitchFamily="18" charset="0"/>
              </a:rPr>
              <a:t>The first conceptual architecture of what constituted a UIMS was formulated at a workshop in 1985 at </a:t>
            </a:r>
            <a:r>
              <a:rPr lang="en-US" sz="2400" dirty="0" err="1" smtClean="0">
                <a:latin typeface="Times New Roman" panose="02020603050405020304" pitchFamily="18" charset="0"/>
                <a:cs typeface="Times New Roman" panose="02020603050405020304" pitchFamily="18" charset="0"/>
              </a:rPr>
              <a:t>Seeheim</a:t>
            </a:r>
            <a:r>
              <a:rPr lang="en-US" sz="2400" dirty="0" smtClean="0">
                <a:latin typeface="Times New Roman" panose="02020603050405020304" pitchFamily="18" charset="0"/>
                <a:cs typeface="Times New Roman" panose="02020603050405020304" pitchFamily="18" charset="0"/>
              </a:rPr>
              <a:t>. </a:t>
            </a:r>
          </a:p>
          <a:p>
            <a:r>
              <a:rPr lang="en-US" sz="2400" dirty="0" smtClean="0">
                <a:latin typeface="Times New Roman" panose="02020603050405020304" pitchFamily="18" charset="0"/>
                <a:cs typeface="Times New Roman" panose="02020603050405020304" pitchFamily="18" charset="0"/>
              </a:rPr>
              <a:t>The logical components of a UIMS were identified as: </a:t>
            </a:r>
          </a:p>
          <a:p>
            <a:r>
              <a:rPr lang="en-US" sz="2400" b="1" dirty="0" smtClean="0">
                <a:latin typeface="Times New Roman" panose="02020603050405020304" pitchFamily="18" charset="0"/>
                <a:cs typeface="Times New Roman" panose="02020603050405020304" pitchFamily="18" charset="0"/>
              </a:rPr>
              <a:t>Presentation</a:t>
            </a:r>
            <a:r>
              <a:rPr lang="en-US" sz="2400" dirty="0" smtClean="0">
                <a:latin typeface="Times New Roman" panose="02020603050405020304" pitchFamily="18" charset="0"/>
                <a:cs typeface="Times New Roman" panose="02020603050405020304" pitchFamily="18" charset="0"/>
              </a:rPr>
              <a:t> The component responsible for the appearance of the interface, including what output and input is available to the user. </a:t>
            </a:r>
          </a:p>
          <a:p>
            <a:r>
              <a:rPr lang="en-US" sz="2400" b="1" dirty="0" smtClean="0">
                <a:latin typeface="Times New Roman" panose="02020603050405020304" pitchFamily="18" charset="0"/>
                <a:cs typeface="Times New Roman" panose="02020603050405020304" pitchFamily="18" charset="0"/>
              </a:rPr>
              <a:t>Dialog control </a:t>
            </a:r>
            <a:r>
              <a:rPr lang="en-US" sz="2400" dirty="0" smtClean="0">
                <a:latin typeface="Times New Roman" panose="02020603050405020304" pitchFamily="18" charset="0"/>
                <a:cs typeface="Times New Roman" panose="02020603050405020304" pitchFamily="18" charset="0"/>
              </a:rPr>
              <a:t>The component which regulates the communication between the presentation and the application. </a:t>
            </a:r>
          </a:p>
          <a:p>
            <a:r>
              <a:rPr lang="en-US" sz="2400" b="1" dirty="0" smtClean="0">
                <a:latin typeface="Times New Roman" panose="02020603050405020304" pitchFamily="18" charset="0"/>
                <a:cs typeface="Times New Roman" panose="02020603050405020304" pitchFamily="18" charset="0"/>
              </a:rPr>
              <a:t>Application interface </a:t>
            </a:r>
            <a:r>
              <a:rPr lang="en-US" sz="2400" dirty="0" smtClean="0">
                <a:latin typeface="Times New Roman" panose="02020603050405020304" pitchFamily="18" charset="0"/>
                <a:cs typeface="Times New Roman" panose="02020603050405020304" pitchFamily="18" charset="0"/>
              </a:rPr>
              <a:t>The view of the application semantics that is provided as the interface.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1711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UIMS as a conceptual architecture</a:t>
            </a:r>
            <a:endParaRPr lang="en-US" dirty="0"/>
          </a:p>
        </p:txBody>
      </p:sp>
      <p:sp>
        <p:nvSpPr>
          <p:cNvPr id="3" name="Content Placeholder 2"/>
          <p:cNvSpPr>
            <a:spLocks noGrp="1"/>
          </p:cNvSpPr>
          <p:nvPr>
            <p:ph idx="1"/>
          </p:nvPr>
        </p:nvSpPr>
        <p:spPr>
          <a:xfrm>
            <a:off x="838200" y="1825625"/>
            <a:ext cx="6327371" cy="4351338"/>
          </a:xfrm>
        </p:spPr>
        <p:txBody>
          <a:bodyPr>
            <a:normAutofit/>
          </a:bodyPr>
          <a:lstStyle/>
          <a:p>
            <a:pPr algn="just"/>
            <a:r>
              <a:rPr lang="en-US" sz="2000" dirty="0" smtClean="0">
                <a:latin typeface="Times New Roman" panose="02020603050405020304" pitchFamily="18" charset="0"/>
                <a:cs typeface="Times New Roman" panose="02020603050405020304" pitchFamily="18" charset="0"/>
              </a:rPr>
              <a:t>Figure 8.10 presents a graphical interpretation of the </a:t>
            </a:r>
            <a:r>
              <a:rPr lang="en-US" sz="2000" dirty="0" err="1" smtClean="0">
                <a:latin typeface="Times New Roman" panose="02020603050405020304" pitchFamily="18" charset="0"/>
                <a:cs typeface="Times New Roman" panose="02020603050405020304" pitchFamily="18" charset="0"/>
              </a:rPr>
              <a:t>Seeheim</a:t>
            </a:r>
            <a:r>
              <a:rPr lang="en-US" sz="2000" dirty="0" smtClean="0">
                <a:latin typeface="Times New Roman" panose="02020603050405020304" pitchFamily="18" charset="0"/>
                <a:cs typeface="Times New Roman" panose="02020603050405020304" pitchFamily="18" charset="0"/>
              </a:rPr>
              <a:t> model.</a:t>
            </a:r>
          </a:p>
          <a:p>
            <a:pPr algn="just"/>
            <a:r>
              <a:rPr lang="en-US" sz="2000" dirty="0" smtClean="0">
                <a:latin typeface="Times New Roman" panose="02020603050405020304" pitchFamily="18" charset="0"/>
                <a:cs typeface="Times New Roman" panose="02020603050405020304" pitchFamily="18" charset="0"/>
              </a:rPr>
              <a:t>We have included both application and user in Figure 8.10 to place the UIMS model more in the context of the interactive system .</a:t>
            </a:r>
          </a:p>
          <a:p>
            <a:pPr algn="just"/>
            <a:r>
              <a:rPr lang="en-US" sz="2000" dirty="0" smtClean="0">
                <a:latin typeface="Times New Roman" panose="02020603050405020304" pitchFamily="18" charset="0"/>
                <a:cs typeface="Times New Roman" panose="02020603050405020304" pitchFamily="18" charset="0"/>
              </a:rPr>
              <a:t>The application and the user are not explicit in the </a:t>
            </a:r>
            <a:r>
              <a:rPr lang="en-US" sz="2000" dirty="0" err="1" smtClean="0">
                <a:latin typeface="Times New Roman" panose="02020603050405020304" pitchFamily="18" charset="0"/>
                <a:cs typeface="Times New Roman" panose="02020603050405020304" pitchFamily="18" charset="0"/>
              </a:rPr>
              <a:t>Seeheim</a:t>
            </a:r>
            <a:r>
              <a:rPr lang="en-US" sz="2000" dirty="0" smtClean="0">
                <a:latin typeface="Times New Roman" panose="02020603050405020304" pitchFamily="18" charset="0"/>
                <a:cs typeface="Times New Roman" panose="02020603050405020304" pitchFamily="18" charset="0"/>
              </a:rPr>
              <a:t> model </a:t>
            </a:r>
            <a:r>
              <a:rPr lang="en-US" sz="2000" dirty="0" smtClean="0"/>
              <a:t>because </a:t>
            </a:r>
            <a:r>
              <a:rPr lang="en-US" sz="2000" dirty="0" smtClean="0">
                <a:latin typeface="Times New Roman" panose="02020603050405020304" pitchFamily="18" charset="0"/>
                <a:cs typeface="Times New Roman" panose="02020603050405020304" pitchFamily="18" charset="0"/>
              </a:rPr>
              <a:t>it was intended only to model the components of a UIMS and not the entire interactive system. </a:t>
            </a:r>
          </a:p>
          <a:p>
            <a:pPr algn="just"/>
            <a:r>
              <a:rPr lang="en-US" sz="2000" dirty="0" smtClean="0">
                <a:latin typeface="Times New Roman" panose="02020603050405020304" pitchFamily="18" charset="0"/>
                <a:cs typeface="Times New Roman" panose="02020603050405020304" pitchFamily="18" charset="0"/>
              </a:rPr>
              <a:t>One of the main problems with the </a:t>
            </a:r>
            <a:r>
              <a:rPr lang="en-US" sz="2000" dirty="0" err="1" smtClean="0">
                <a:latin typeface="Times New Roman" panose="02020603050405020304" pitchFamily="18" charset="0"/>
                <a:cs typeface="Times New Roman" panose="02020603050405020304" pitchFamily="18" charset="0"/>
              </a:rPr>
              <a:t>Seeheim</a:t>
            </a:r>
            <a:r>
              <a:rPr lang="en-US" sz="2000" dirty="0" smtClean="0">
                <a:latin typeface="Times New Roman" panose="02020603050405020304" pitchFamily="18" charset="0"/>
                <a:cs typeface="Times New Roman" panose="02020603050405020304" pitchFamily="18" charset="0"/>
              </a:rPr>
              <a:t> model is that, whereas it served well as a post hoc rationalization of how a UIMS was built up to 1985, it did not provide any real direction for how future UIMS should be structured.</a:t>
            </a:r>
            <a:endParaRPr lang="en-US"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7370895" y="2038886"/>
            <a:ext cx="4715533" cy="2248214"/>
          </a:xfrm>
          <a:prstGeom prst="rect">
            <a:avLst/>
          </a:prstGeom>
        </p:spPr>
      </p:pic>
    </p:spTree>
    <p:extLst>
      <p:ext uri="{BB962C8B-B14F-4D97-AF65-F5344CB8AC3E}">
        <p14:creationId xmlns:p14="http://schemas.microsoft.com/office/powerpoint/2010/main" val="42830711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UIMS as a conceptual architecture</a:t>
            </a:r>
            <a:endParaRPr lang="en-US" dirty="0"/>
          </a:p>
        </p:txBody>
      </p:sp>
      <p:pic>
        <p:nvPicPr>
          <p:cNvPr id="4" name="Content Placeholder 3"/>
          <p:cNvPicPr>
            <a:picLocks noGrp="1" noChangeAspect="1"/>
          </p:cNvPicPr>
          <p:nvPr>
            <p:ph idx="1"/>
          </p:nvPr>
        </p:nvPicPr>
        <p:blipFill>
          <a:blip r:embed="rId2"/>
          <a:stretch>
            <a:fillRect/>
          </a:stretch>
        </p:blipFill>
        <p:spPr>
          <a:xfrm>
            <a:off x="6477427" y="1690688"/>
            <a:ext cx="5039428" cy="2448267"/>
          </a:xfrm>
          <a:prstGeom prst="rect">
            <a:avLst/>
          </a:prstGeom>
        </p:spPr>
      </p:pic>
      <p:sp>
        <p:nvSpPr>
          <p:cNvPr id="5" name="Rectangle 4"/>
          <p:cNvSpPr/>
          <p:nvPr/>
        </p:nvSpPr>
        <p:spPr>
          <a:xfrm>
            <a:off x="712124" y="1775936"/>
            <a:ext cx="6096000" cy="3416320"/>
          </a:xfrm>
          <a:prstGeom prst="rect">
            <a:avLst/>
          </a:prstGeom>
        </p:spPr>
        <p:txBody>
          <a:bodyPr>
            <a:spAutoFit/>
          </a:bodyPr>
          <a:lstStyle/>
          <a:p>
            <a:pPr marL="285750" indent="-28575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Within Smalltalk, the link between application semantics and presentation can be built up in units by means of the MVC triad. </a:t>
            </a:r>
          </a:p>
          <a:p>
            <a:pPr marL="285750" indent="-28575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The model represents the application semantics; the view manages the graphical and/or textual output of the application; and the controller manages the input.</a:t>
            </a:r>
          </a:p>
          <a:p>
            <a:pPr marL="285750" indent="-28575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The basic behavior of models, views and controllers has been embodied in general Smalltalk object classes, which can be inherited by instances and suitably modified.</a:t>
            </a:r>
          </a:p>
          <a:p>
            <a:pPr marL="285750" indent="-28575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Smalltalk, like many other window toolkits, prescribes its own look and feel on input and output, so the generic view and controller classes </a:t>
            </a:r>
            <a:endParaRPr lang="en-US"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6808124" y="4224203"/>
            <a:ext cx="4560203" cy="2115495"/>
          </a:xfrm>
          <a:prstGeom prst="rect">
            <a:avLst/>
          </a:prstGeom>
        </p:spPr>
      </p:pic>
    </p:spTree>
    <p:extLst>
      <p:ext uri="{BB962C8B-B14F-4D97-AF65-F5344CB8AC3E}">
        <p14:creationId xmlns:p14="http://schemas.microsoft.com/office/powerpoint/2010/main" val="17472001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UIMS as a conceptual architecture</a:t>
            </a:r>
            <a:endParaRPr lang="en-US" dirty="0"/>
          </a:p>
        </p:txBody>
      </p:sp>
      <p:sp>
        <p:nvSpPr>
          <p:cNvPr id="3" name="Content Placeholder 2"/>
          <p:cNvSpPr>
            <a:spLocks noGrp="1"/>
          </p:cNvSpPr>
          <p:nvPr>
            <p:ph idx="1"/>
          </p:nvPr>
        </p:nvSpPr>
        <p:spPr/>
        <p:txBody>
          <a:bodyPr>
            <a:normAutofit lnSpcReduction="10000"/>
          </a:bodyPr>
          <a:lstStyle/>
          <a:p>
            <a:pPr algn="just"/>
            <a:r>
              <a:rPr lang="en-US" sz="2000" dirty="0" smtClean="0">
                <a:latin typeface="Times New Roman" panose="02020603050405020304" pitchFamily="18" charset="0"/>
                <a:cs typeface="Times New Roman" panose="02020603050405020304" pitchFamily="18" charset="0"/>
              </a:rPr>
              <a:t>Another so-called multi-agent architecture for interactive systems is the </a:t>
            </a:r>
            <a:r>
              <a:rPr lang="en-US" sz="2000" dirty="0" smtClean="0">
                <a:latin typeface="Times New Roman" panose="02020603050405020304" pitchFamily="18" charset="0"/>
                <a:cs typeface="Times New Roman" panose="02020603050405020304" pitchFamily="18" charset="0"/>
              </a:rPr>
              <a:t>presentation–abstraction–control </a:t>
            </a:r>
            <a:r>
              <a:rPr lang="en-US" sz="2000" dirty="0" smtClean="0">
                <a:latin typeface="Times New Roman" panose="02020603050405020304" pitchFamily="18" charset="0"/>
                <a:cs typeface="Times New Roman" panose="02020603050405020304" pitchFamily="18" charset="0"/>
              </a:rPr>
              <a:t>PAC model suggested by </a:t>
            </a:r>
            <a:r>
              <a:rPr lang="en-US" sz="2000" dirty="0" err="1" smtClean="0">
                <a:latin typeface="Times New Roman" panose="02020603050405020304" pitchFamily="18" charset="0"/>
                <a:cs typeface="Times New Roman" panose="02020603050405020304" pitchFamily="18" charset="0"/>
              </a:rPr>
              <a:t>Coutaz</a:t>
            </a:r>
            <a:r>
              <a:rPr lang="en-US" sz="2000" dirty="0" smtClean="0">
                <a:latin typeface="Times New Roman" panose="02020603050405020304" pitchFamily="18" charset="0"/>
                <a:cs typeface="Times New Roman" panose="02020603050405020304" pitchFamily="18" charset="0"/>
              </a:rPr>
              <a:t>.</a:t>
            </a:r>
          </a:p>
          <a:p>
            <a:pPr algn="just"/>
            <a:r>
              <a:rPr lang="en-US" sz="2000" dirty="0" smtClean="0">
                <a:latin typeface="Times New Roman" panose="02020603050405020304" pitchFamily="18" charset="0"/>
                <a:cs typeface="Times New Roman" panose="02020603050405020304" pitchFamily="18" charset="0"/>
              </a:rPr>
              <a:t>PAC is based on a collection of triads also: with application semantics represented by the abstraction component; input and output combined in one presentation component; and an explicit control component to manage the dialog and correspondence between application and presentation (see Figure 8.12).</a:t>
            </a:r>
          </a:p>
          <a:p>
            <a:pPr algn="just"/>
            <a:r>
              <a:rPr lang="en-US" sz="2000" dirty="0" smtClean="0">
                <a:latin typeface="Times New Roman" panose="02020603050405020304" pitchFamily="18" charset="0"/>
                <a:cs typeface="Times New Roman" panose="02020603050405020304" pitchFamily="18" charset="0"/>
              </a:rPr>
              <a:t> There are three important differences between PAC and MVC. </a:t>
            </a:r>
          </a:p>
          <a:p>
            <a:pPr algn="just"/>
            <a:r>
              <a:rPr lang="en-US" sz="2000" dirty="0" smtClean="0">
                <a:latin typeface="Times New Roman" panose="02020603050405020304" pitchFamily="18" charset="0"/>
                <a:cs typeface="Times New Roman" panose="02020603050405020304" pitchFamily="18" charset="0"/>
              </a:rPr>
              <a:t>First, PAC groups input and output together, whereas MVC separates them.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Secondly, PAC </a:t>
            </a:r>
            <a:r>
              <a:rPr lang="en-US" sz="2000" dirty="0">
                <a:latin typeface="Times New Roman" panose="02020603050405020304" pitchFamily="18" charset="0"/>
                <a:cs typeface="Times New Roman" panose="02020603050405020304" pitchFamily="18" charset="0"/>
              </a:rPr>
              <a:t>explicitly includes a Control component responsible for ensuring synchronization between Presentation and Abstraction layers. This built-in mechanism ensures consistency and coordination between the UI and underlying data</a:t>
            </a:r>
            <a:r>
              <a:rPr lang="en-US" sz="2000" dirty="0" smtClean="0">
                <a:latin typeface="Times New Roman" panose="02020603050405020304" pitchFamily="18" charset="0"/>
                <a:cs typeface="Times New Roman" panose="02020603050405020304" pitchFamily="18" charset="0"/>
              </a:rPr>
              <a:t>.</a:t>
            </a:r>
          </a:p>
          <a:p>
            <a:pPr algn="just"/>
            <a:r>
              <a:rPr lang="en-US" sz="2000" dirty="0" smtClean="0">
                <a:latin typeface="Times New Roman" panose="02020603050405020304" pitchFamily="18" charset="0"/>
                <a:cs typeface="Times New Roman" panose="02020603050405020304" pitchFamily="18" charset="0"/>
              </a:rPr>
              <a:t>MVC</a:t>
            </a:r>
            <a:r>
              <a:rPr lang="en-US" sz="2000" dirty="0">
                <a:latin typeface="Times New Roman" panose="02020603050405020304" pitchFamily="18" charset="0"/>
                <a:cs typeface="Times New Roman" panose="02020603050405020304" pitchFamily="18" charset="0"/>
              </a:rPr>
              <a:t>, on the other hand, does not explicitly designate a component for maintaining this synchronization. Instead, the responsibility is left to the developer, who must decide how to keep the Model (data) and View (UI) in sync, often through the Controller or via observer patterns.</a:t>
            </a:r>
            <a:endParaRPr lang="en-US"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64687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UIMS as a conceptual architecture</a:t>
            </a:r>
            <a:endParaRPr lang="en-US" dirty="0"/>
          </a:p>
        </p:txBody>
      </p:sp>
      <p:sp>
        <p:nvSpPr>
          <p:cNvPr id="5" name="Rectangle 4"/>
          <p:cNvSpPr/>
          <p:nvPr/>
        </p:nvSpPr>
        <p:spPr>
          <a:xfrm>
            <a:off x="1001658" y="1687594"/>
            <a:ext cx="10436968" cy="3970318"/>
          </a:xfrm>
          <a:prstGeom prst="rect">
            <a:avLst/>
          </a:prstGeom>
        </p:spPr>
        <p:txBody>
          <a:bodyPr wrap="square">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PAC is less dependent on specific implementation details and can be applied in various ways without being restricted to a particular programming framework or language</a:t>
            </a:r>
            <a:r>
              <a:rPr lang="en-US" dirty="0" smtClean="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contrast, MVC is often tied to specific UI frameworks (e.g., React, Angular, Spring MVC) and typically follows predefined conventions for implementation</a:t>
            </a:r>
            <a:r>
              <a:rPr lang="en-US" dirty="0" smtClean="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While PAC is not strictly object-oriented, it is highly conducive to object-oriented design, making it a natural fit for modern software development practices</a:t>
            </a:r>
            <a:r>
              <a:rPr lang="en-US" dirty="0" smtClean="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MVC </a:t>
            </a:r>
            <a:r>
              <a:rPr lang="en-US" dirty="0">
                <a:latin typeface="Times New Roman" panose="02020603050405020304" pitchFamily="18" charset="0"/>
                <a:cs typeface="Times New Roman" panose="02020603050405020304" pitchFamily="18" charset="0"/>
              </a:rPr>
              <a:t>also works well with object-oriented programming but is often implemented using event-driven or procedural approaches in some </a:t>
            </a:r>
            <a:r>
              <a:rPr lang="en-US" dirty="0" smtClean="0">
                <a:latin typeface="Times New Roman" panose="02020603050405020304" pitchFamily="18" charset="0"/>
                <a:cs typeface="Times New Roman" panose="02020603050405020304" pitchFamily="18" charset="0"/>
              </a:rPr>
              <a:t>frameworks.</a:t>
            </a:r>
          </a:p>
          <a:p>
            <a:pPr marL="285750" indent="-28575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PAC </a:t>
            </a:r>
            <a:r>
              <a:rPr lang="en-US" dirty="0" smtClean="0">
                <a:latin typeface="Times New Roman" panose="02020603050405020304" pitchFamily="18" charset="0"/>
                <a:cs typeface="Times New Roman" panose="02020603050405020304" pitchFamily="18" charset="0"/>
              </a:rPr>
              <a:t>is more of a conceptual architecture than MVC because it is less implementation dependent</a:t>
            </a:r>
            <a:r>
              <a:rPr lang="en-US" dirty="0" smtClean="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PAC explicitly isolates the Control component, making it responsible for communication and coordination between Presentation and Abstraction</a:t>
            </a:r>
            <a:r>
              <a:rPr lang="en-US" dirty="0" smtClean="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structured separation enhances modularity and makes the system more scalable</a:t>
            </a:r>
            <a:r>
              <a:rPr lang="en-US" dirty="0" smtClean="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MVC</a:t>
            </a:r>
            <a:r>
              <a:rPr lang="en-US" dirty="0">
                <a:latin typeface="Times New Roman" panose="02020603050405020304" pitchFamily="18" charset="0"/>
                <a:cs typeface="Times New Roman" panose="02020603050405020304" pitchFamily="18" charset="0"/>
              </a:rPr>
              <a:t>, on the other hand, does not explicitly separate control in the same way, leaving developers to manage dependencies between the Model, View, and Controller.</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10532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TotalTime>
  <Words>2557</Words>
  <Application>Microsoft Office PowerPoint</Application>
  <PresentationFormat>Widescreen</PresentationFormat>
  <Paragraphs>127</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Times New Roman</vt:lpstr>
      <vt:lpstr>Wingdings</vt:lpstr>
      <vt:lpstr>Office Theme</vt:lpstr>
      <vt:lpstr>IMPLEMENTATION SUPPORT</vt:lpstr>
      <vt:lpstr>ELEMENTS OF WINDOWING SYSTEMS</vt:lpstr>
      <vt:lpstr>ELEMENTS OF WINDOWING SYSTEMS</vt:lpstr>
      <vt:lpstr>The role of a windowing system</vt:lpstr>
      <vt:lpstr>Examples of imaging models</vt:lpstr>
      <vt:lpstr>Architectures of windowing systems</vt:lpstr>
      <vt:lpstr>Architectures of windowing systems</vt:lpstr>
      <vt:lpstr>Architectures of windowing systems</vt:lpstr>
      <vt:lpstr>Architectures of windowing systems</vt:lpstr>
      <vt:lpstr>PROGRAMMING THE APPLICATION</vt:lpstr>
      <vt:lpstr>PROGRAMMING THE APPLICATION</vt:lpstr>
      <vt:lpstr>PROGRAMMING THE APPLICATION</vt:lpstr>
      <vt:lpstr>USING TOOLKITS</vt:lpstr>
      <vt:lpstr>USING TOOLKITS</vt:lpstr>
      <vt:lpstr>USER INTERFACE MANAGEMENT SYSTEMS</vt:lpstr>
      <vt:lpstr>USER INTERFACE MANAGEMENT SYSTEMS</vt:lpstr>
      <vt:lpstr>UIMS as a conceptual architecture</vt:lpstr>
      <vt:lpstr>UIMS as a conceptual architecture</vt:lpstr>
      <vt:lpstr>UIMS as a conceptual architecture</vt:lpstr>
      <vt:lpstr>UIMS as a conceptual architecture</vt:lpstr>
      <vt:lpstr>UIMS as a conceptual architecture</vt:lpstr>
      <vt:lpstr>UIMS as a conceptual architecture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IMPLEMENTATION SUPPORT</dc:title>
  <dc:creator>CSEJU</dc:creator>
  <cp:lastModifiedBy>Microsoft account</cp:lastModifiedBy>
  <cp:revision>16</cp:revision>
  <dcterms:created xsi:type="dcterms:W3CDTF">2025-02-27T08:12:01Z</dcterms:created>
  <dcterms:modified xsi:type="dcterms:W3CDTF">2025-02-27T15:07:21Z</dcterms:modified>
</cp:coreProperties>
</file>