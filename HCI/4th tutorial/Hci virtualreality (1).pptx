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1" r:id="rId3"/>
    <p:sldId id="282" r:id="rId4"/>
    <p:sldId id="257" r:id="rId5"/>
    <p:sldId id="258" r:id="rId6"/>
    <p:sldId id="276" r:id="rId7"/>
    <p:sldId id="277" r:id="rId8"/>
    <p:sldId id="280" r:id="rId9"/>
    <p:sldId id="278" r:id="rId10"/>
    <p:sldId id="27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83" r:id="rId26"/>
    <p:sldId id="274" r:id="rId27"/>
    <p:sldId id="284" r:id="rId28"/>
    <p:sldId id="275" r:id="rId29"/>
    <p:sldId id="285" r:id="rId30"/>
    <p:sldId id="287" r:id="rId31"/>
    <p:sldId id="286" r:id="rId3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1426" y="5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966C6-0D80-40AA-B45A-37A8325C571A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EB6FA4-E98A-4BDA-8CB1-13C8D2BF24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4873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966C6-0D80-40AA-B45A-37A8325C571A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EB6FA4-E98A-4BDA-8CB1-13C8D2BF24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5171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966C6-0D80-40AA-B45A-37A8325C571A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EB6FA4-E98A-4BDA-8CB1-13C8D2BF24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70002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966C6-0D80-40AA-B45A-37A8325C571A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EB6FA4-E98A-4BDA-8CB1-13C8D2BF24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6713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966C6-0D80-40AA-B45A-37A8325C571A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EB6FA4-E98A-4BDA-8CB1-13C8D2BF24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8009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966C6-0D80-40AA-B45A-37A8325C571A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EB6FA4-E98A-4BDA-8CB1-13C8D2BF24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79180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966C6-0D80-40AA-B45A-37A8325C571A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EB6FA4-E98A-4BDA-8CB1-13C8D2BF24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29148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966C6-0D80-40AA-B45A-37A8325C571A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EB6FA4-E98A-4BDA-8CB1-13C8D2BF24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2827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966C6-0D80-40AA-B45A-37A8325C571A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EB6FA4-E98A-4BDA-8CB1-13C8D2BF24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6674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966C6-0D80-40AA-B45A-37A8325C571A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EB6FA4-E98A-4BDA-8CB1-13C8D2BF24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81932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966C6-0D80-40AA-B45A-37A8325C571A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EB6FA4-E98A-4BDA-8CB1-13C8D2BF24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6856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F966C6-0D80-40AA-B45A-37A8325C571A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EB6FA4-E98A-4BDA-8CB1-13C8D2BF24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2235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HCI Virtual Reality</a:t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78948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Virtual Reality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b="1" dirty="0"/>
              <a:t>What is Virtual Reality?</a:t>
            </a:r>
            <a:endParaRPr lang="en-US" sz="2900" b="1" dirty="0"/>
          </a:p>
          <a:p>
            <a:pPr algn="just"/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Virtual Reality (VR) is a simulated experience that can be similar to or completely different from the real world. It immerses users in a computer-generated environment using devices such as VR headsets, gloves, or motion tracking </a:t>
            </a:r>
            <a:r>
              <a:rPr lang="en-US" sz="2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systems.</a:t>
            </a:r>
          </a:p>
          <a:p>
            <a:pPr algn="just"/>
            <a:endParaRPr lang="en-US" sz="29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Components of VR</a:t>
            </a:r>
          </a:p>
          <a:p>
            <a:pPr marL="0" indent="0">
              <a:buNone/>
            </a:pPr>
            <a:r>
              <a:rPr lang="en-US" sz="29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1) Immersive </a:t>
            </a:r>
            <a:r>
              <a:rPr lang="en-US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Environments</a:t>
            </a:r>
            <a:endParaRPr lang="en-US" sz="2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Simulated 3D worlds that users can explore and interact with.</a:t>
            </a:r>
          </a:p>
          <a:p>
            <a:pPr lvl="1"/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mimic real-world settings or create entirely fictional universes.</a:t>
            </a:r>
          </a:p>
          <a:p>
            <a:pPr marL="0" indent="0">
              <a:buNone/>
            </a:pPr>
            <a:r>
              <a:rPr lang="en-US" sz="29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2) Interaction</a:t>
            </a:r>
            <a:endParaRPr lang="en-US" sz="2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interact using gestures, voice commands, or handheld controllers.</a:t>
            </a:r>
          </a:p>
          <a:p>
            <a:pPr lvl="1"/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Interaction design is key to maintaining immersion and user comfort.</a:t>
            </a: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53246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Virtual Reality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457200" y="1985744"/>
            <a:ext cx="8341194" cy="37548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3) Presence</a:t>
            </a: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feeling of “being there” in the virtual environment.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critical goal in VR, influenced by realism, responsiveness, and sensory cues.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4) Input Devices</a:t>
            </a: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VR headsets (like Oculus, HTC Vive, PlayStation VR)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Motion controllers, gloves, body suits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Eye tracking, hand tracking,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haptics</a:t>
            </a: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5) Output Devices</a:t>
            </a: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Displays inside headsets (stereoscopic 3D visuals)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Spatial audio systems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Haptic feedback devices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03394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066800"/>
            <a:ext cx="8356945" cy="4678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097799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914400"/>
            <a:ext cx="8112714" cy="4983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58269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Virtual Reality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Virtual Reality (VR) comes in several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depending on the level of immersion, interaction, and the tech used. Here's a quick breakdown of the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types of VR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Non-Immersive VR</a:t>
            </a: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it is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VR where users interact with a virtual environment via a computer screen, but they’re not fully "inside" the virtual world.</a:t>
            </a: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Video games like 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Sims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Flight Simulator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Architectural walkthroughs on a PC</a:t>
            </a: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 needed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Monitor, keyboard/mouse/gamepad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28342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Virtual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Semi-Immersive VR</a:t>
            </a:r>
          </a:p>
          <a:p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it is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Provides a deeper sense of presence using large screens or projections, but you’re still aware of the real world.</a:t>
            </a:r>
          </a:p>
          <a:p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Flight/train simulators</a:t>
            </a:r>
          </a:p>
          <a:p>
            <a:pPr lvl="1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Museum installations with interactive projections</a:t>
            </a:r>
          </a:p>
          <a:p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 needed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High-end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PCs, large displays, sometimes motion </a:t>
            </a:r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tracking</a:t>
            </a:r>
          </a:p>
          <a:p>
            <a:pPr marL="0" indent="0">
              <a:buNone/>
            </a:pPr>
            <a:r>
              <a:rPr lang="en-US" sz="2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Fully Immersive VR</a:t>
            </a:r>
          </a:p>
          <a:p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it is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most common and advanced form—puts you </a:t>
            </a:r>
            <a:r>
              <a:rPr 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entirely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a 3D virtual world where you can move, look around, and interact.</a:t>
            </a:r>
          </a:p>
          <a:p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Gaming on Meta Quest, HTC Vive, PlayStation VR</a:t>
            </a:r>
          </a:p>
          <a:p>
            <a:pPr lvl="1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VR training in healthcare or military</a:t>
            </a:r>
          </a:p>
          <a:p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 needed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Head-mounted display (HMD), motion controllers, sensors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82278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219200"/>
            <a:ext cx="8229600" cy="44649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892643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Virtual Reality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sz="29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4. Collaborative </a:t>
            </a:r>
            <a:r>
              <a:rPr lang="en-US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 Networked VR</a:t>
            </a:r>
          </a:p>
          <a:p>
            <a:r>
              <a:rPr lang="en-US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it is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Shared virtual environments where multiple users interact in real time.</a:t>
            </a:r>
          </a:p>
          <a:p>
            <a:r>
              <a:rPr lang="en-US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/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VRChat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AltspaceVR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Horizon Worlds</a:t>
            </a:r>
          </a:p>
          <a:p>
            <a:pPr lvl="1"/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Remote workspaces or classrooms in VR</a:t>
            </a:r>
          </a:p>
          <a:p>
            <a:r>
              <a:rPr lang="en-US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 needed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VR headset + internet </a:t>
            </a:r>
            <a:r>
              <a:rPr lang="en-US" sz="2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connection</a:t>
            </a:r>
          </a:p>
          <a:p>
            <a:pPr marL="0" indent="0">
              <a:buNone/>
            </a:pPr>
            <a:r>
              <a:rPr lang="en-US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Augmented VR / Mixed Reality (MR)</a:t>
            </a:r>
          </a:p>
          <a:p>
            <a:r>
              <a:rPr lang="en-US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it is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Combines real and virtual elements—real-world views overlaid with 3D virtual content. Kind of a blend between VR and AR.</a:t>
            </a:r>
          </a:p>
          <a:p>
            <a:r>
              <a:rPr lang="en-US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/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Microsoft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HoloLens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Apple Vision Pro</a:t>
            </a:r>
          </a:p>
          <a:p>
            <a:r>
              <a:rPr lang="en-US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 needed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MR-capable headset, sensors for real-world mapping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6664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Virtual Reality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CAVE Systems (Cave Automatic Virtual Environment)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it is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Rooms where images are projected onto walls/floor/ceiling, creating an immersive space without a headset.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University research labs</a:t>
            </a: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Industrial design walkthroughs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 needed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Projectors, tracking systems, 3D glasses</a:t>
            </a:r>
          </a:p>
        </p:txBody>
      </p:sp>
    </p:spTree>
    <p:extLst>
      <p:ext uri="{BB962C8B-B14F-4D97-AF65-F5344CB8AC3E}">
        <p14:creationId xmlns:p14="http://schemas.microsoft.com/office/powerpoint/2010/main" val="30156927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542" y="1219200"/>
            <a:ext cx="7846915" cy="4906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156113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633" y="1143000"/>
            <a:ext cx="8000734" cy="4983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075212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363" y="1066800"/>
            <a:ext cx="7973274" cy="5059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916148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598" y="1219200"/>
            <a:ext cx="8134803" cy="4906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436210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539" y="990600"/>
            <a:ext cx="8224922" cy="5135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662863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3004" y="990600"/>
            <a:ext cx="8037992" cy="5135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194091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170" y="1066800"/>
            <a:ext cx="8013659" cy="5059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936860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348" y="1143000"/>
            <a:ext cx="8019303" cy="4983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803180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309" y="1066800"/>
            <a:ext cx="8067382" cy="5059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644793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066801"/>
            <a:ext cx="8229600" cy="50493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600537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143000"/>
            <a:ext cx="8229600" cy="49543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158020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794" y="990600"/>
            <a:ext cx="7984412" cy="5135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171963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857" y="990600"/>
            <a:ext cx="7982285" cy="5135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984516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6736" y="1143000"/>
            <a:ext cx="8090528" cy="4983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7074029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Architecture of VR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Input Processor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Captures user input.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gloves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Trackers (for head/body motion)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Speech recognition systems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Converts physical actions into digital signals that can be understood by the system.</a:t>
            </a:r>
          </a:p>
        </p:txBody>
      </p:sp>
    </p:spTree>
    <p:extLst>
      <p:ext uri="{BB962C8B-B14F-4D97-AF65-F5344CB8AC3E}">
        <p14:creationId xmlns:p14="http://schemas.microsoft.com/office/powerpoint/2010/main" val="416012710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843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623860"/>
            <a:ext cx="8229600" cy="44786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1284510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 of VR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Simulation Processor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Acts as the brain of the system.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Maintains the internal model of the virtual world.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Updates the state of the virtual environment based on user actions and physics.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Integrates input with the current world state using logic, AI, and physics servers.</a:t>
            </a:r>
          </a:p>
        </p:txBody>
      </p:sp>
    </p:spTree>
    <p:extLst>
      <p:ext uri="{BB962C8B-B14F-4D97-AF65-F5344CB8AC3E}">
        <p14:creationId xmlns:p14="http://schemas.microsoft.com/office/powerpoint/2010/main" val="164628714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219200"/>
            <a:ext cx="7962207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4013042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 of VR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Rendering Processor</a:t>
            </a:r>
          </a:p>
          <a:p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Converts the updated virtual world model into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sensory output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the user can perceive and interact with in real-time</a:t>
            </a:r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Types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/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Rendering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Responsible for generating realistic 3D graphics</a:t>
            </a:r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/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Uses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rendering servers (as seen in the left-side diagram) to process images frame-by-frame</a:t>
            </a:r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/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Includes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lighting, shading, texture mapping, and perspective.</a:t>
            </a:r>
            <a:endParaRPr lang="en-US" sz="2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Audio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Rendering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Produces spatial and ambient sound that aligns with the virtual environment</a:t>
            </a:r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/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Often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handled by audio servers</a:t>
            </a:r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/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Enhances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realism and situational awareness.</a:t>
            </a:r>
          </a:p>
          <a:p>
            <a:pPr lvl="1"/>
            <a:r>
              <a:rPr lang="en-US" sz="2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Haptic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Feedback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Provides tactile sensations (e.g., vibrations, pressure</a:t>
            </a:r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lvl="1"/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Delivered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through data gloves, haptic suits, or other wearable devices</a:t>
            </a:r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/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Helps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“feel” interactions, adding another layer of immersion</a:t>
            </a:r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lvl="1" indent="0">
              <a:buNone/>
            </a:pPr>
            <a:r>
              <a:rPr lang="en-US" sz="2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Goal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Deliver realistic, real-time output to immerse the user in the virtual environment</a:t>
            </a:r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396355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 of VR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World Database</a:t>
            </a:r>
          </a:p>
          <a:p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Stores the data that defines the virtual world.</a:t>
            </a:r>
          </a:p>
          <a:p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Contents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3D models</a:t>
            </a:r>
          </a:p>
          <a:p>
            <a:pPr lvl="1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Textures</a:t>
            </a:r>
          </a:p>
          <a:p>
            <a:pPr lvl="1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Sounds</a:t>
            </a:r>
          </a:p>
          <a:p>
            <a:pPr lvl="1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Behavioral rules</a:t>
            </a:r>
          </a:p>
          <a:p>
            <a:pPr lvl="1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 properties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026992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 of VR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They Work Together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Processor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captures what the user does.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Simulation Processor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updates the virtual world based on that input.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Rendering Processor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displays the updated virtual world.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World Database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feeds all three components with the necessary assets and rules.</a:t>
            </a:r>
          </a:p>
        </p:txBody>
      </p:sp>
    </p:spTree>
    <p:extLst>
      <p:ext uri="{BB962C8B-B14F-4D97-AF65-F5344CB8AC3E}">
        <p14:creationId xmlns:p14="http://schemas.microsoft.com/office/powerpoint/2010/main" val="29991912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876</Words>
  <Application>Microsoft Office PowerPoint</Application>
  <PresentationFormat>On-screen Show (4:3)</PresentationFormat>
  <Paragraphs>108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5" baseType="lpstr">
      <vt:lpstr>Arial</vt:lpstr>
      <vt:lpstr>Calibri</vt:lpstr>
      <vt:lpstr>Times New Roman</vt:lpstr>
      <vt:lpstr>Office Theme</vt:lpstr>
      <vt:lpstr>      HCI Virtual Reality       </vt:lpstr>
      <vt:lpstr>Virtual Reality</vt:lpstr>
      <vt:lpstr>Virtual Reality</vt:lpstr>
      <vt:lpstr>PowerPoint Presentation</vt:lpstr>
      <vt:lpstr>PowerPoint Presentation</vt:lpstr>
      <vt:lpstr>Types of Virtual Reality</vt:lpstr>
      <vt:lpstr>Types of Virtual Reality</vt:lpstr>
      <vt:lpstr>PowerPoint Presentation</vt:lpstr>
      <vt:lpstr>Types of Virtual Reality</vt:lpstr>
      <vt:lpstr>Types of Virtual Reality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Architecture of VR</vt:lpstr>
      <vt:lpstr>PowerPoint Presentation</vt:lpstr>
      <vt:lpstr>Architecture of VR</vt:lpstr>
      <vt:lpstr>PowerPoint Presentation</vt:lpstr>
      <vt:lpstr>Architecture of VR</vt:lpstr>
      <vt:lpstr>Architecture of VR</vt:lpstr>
      <vt:lpstr>Architecture of VR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Microsoft account</cp:lastModifiedBy>
  <cp:revision>7</cp:revision>
  <dcterms:created xsi:type="dcterms:W3CDTF">2024-02-19T17:55:32Z</dcterms:created>
  <dcterms:modified xsi:type="dcterms:W3CDTF">2025-04-21T18:16:12Z</dcterms:modified>
</cp:coreProperties>
</file>