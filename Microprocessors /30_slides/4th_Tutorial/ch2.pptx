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3" r:id="rId8"/>
    <p:sldId id="264" r:id="rId9"/>
    <p:sldId id="265" r:id="rId10"/>
    <p:sldId id="280" r:id="rId11"/>
    <p:sldId id="266" r:id="rId12"/>
    <p:sldId id="267" r:id="rId13"/>
    <p:sldId id="269" r:id="rId14"/>
    <p:sldId id="270" r:id="rId15"/>
    <p:sldId id="271" r:id="rId16"/>
    <p:sldId id="268"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738"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8423A85-A344-493F-AAAD-CD15458E20B6}"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499390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423A85-A344-493F-AAAD-CD15458E20B6}"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2024189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423A85-A344-493F-AAAD-CD15458E20B6}"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30874097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8423A85-A344-493F-AAAD-CD15458E20B6}" type="datetimeFigureOut">
              <a:rPr lang="en-US" smtClean="0"/>
              <a:pPr/>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1079214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8423A85-A344-493F-AAAD-CD15458E20B6}" type="datetimeFigureOut">
              <a:rPr lang="en-US" smtClean="0"/>
              <a:pPr/>
              <a:t>4/7/2025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2513579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423A85-A344-493F-AAAD-CD15458E20B6}" type="datetimeFigureOut">
              <a:rPr lang="en-US" smtClean="0"/>
              <a:pPr/>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14078300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423A85-A344-493F-AAAD-CD15458E20B6}" type="datetimeFigureOut">
              <a:rPr lang="en-US" smtClean="0"/>
              <a:pPr/>
              <a:t>4/7/2025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2224635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423A85-A344-493F-AAAD-CD15458E20B6}" type="datetimeFigureOut">
              <a:rPr lang="en-US" smtClean="0"/>
              <a:pPr/>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20392060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8423A85-A344-493F-AAAD-CD15458E20B6}" type="datetimeFigureOut">
              <a:rPr lang="en-US" smtClean="0"/>
              <a:pPr/>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432284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423A85-A344-493F-AAAD-CD15458E20B6}"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854404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423A85-A344-493F-AAAD-CD15458E20B6}" type="datetimeFigureOut">
              <a:rPr lang="en-US" smtClean="0"/>
              <a:pPr/>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3F563F-613F-4096-87F4-710306F06820}" type="slidenum">
              <a:rPr lang="en-US" smtClean="0"/>
              <a:pPr/>
              <a:t>‹#›</a:t>
            </a:fld>
            <a:endParaRPr lang="en-US"/>
          </a:p>
        </p:txBody>
      </p:sp>
    </p:spTree>
    <p:extLst>
      <p:ext uri="{BB962C8B-B14F-4D97-AF65-F5344CB8AC3E}">
        <p14:creationId xmlns:p14="http://schemas.microsoft.com/office/powerpoint/2010/main" val="2001779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423A85-A344-493F-AAAD-CD15458E20B6}" type="datetimeFigureOut">
              <a:rPr lang="en-US" smtClean="0"/>
              <a:pPr/>
              <a:t>4/7/2025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3F563F-613F-4096-87F4-710306F06820}" type="slidenum">
              <a:rPr lang="en-US" smtClean="0"/>
              <a:pPr/>
              <a:t>‹#›</a:t>
            </a:fld>
            <a:endParaRPr lang="en-US"/>
          </a:p>
        </p:txBody>
      </p:sp>
    </p:spTree>
    <p:extLst>
      <p:ext uri="{BB962C8B-B14F-4D97-AF65-F5344CB8AC3E}">
        <p14:creationId xmlns:p14="http://schemas.microsoft.com/office/powerpoint/2010/main" val="1273714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pcpolytechnic.com/entc/learning.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www.eeeguide.com/wp-content/uploads/2022/06/Internal-Architecture-of-Pentium-Processor-001.jpg"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Introduction to Pentium Processor</a:t>
            </a:r>
          </a:p>
        </p:txBody>
      </p:sp>
      <p:sp>
        <p:nvSpPr>
          <p:cNvPr id="3" name="Subtitle 2"/>
          <p:cNvSpPr>
            <a:spLocks noGrp="1"/>
          </p:cNvSpPr>
          <p:nvPr>
            <p:ph type="subTitle" idx="1"/>
          </p:nvPr>
        </p:nvSpPr>
        <p:spPr/>
        <p:txBody>
          <a:bodyPr/>
          <a:lstStyle/>
          <a:p>
            <a:r>
              <a:rPr lang="en-US" b="1" dirty="0">
                <a:solidFill>
                  <a:srgbClr val="FF0000"/>
                </a:solidFill>
              </a:rPr>
              <a:t>Marks 32</a:t>
            </a:r>
          </a:p>
        </p:txBody>
      </p:sp>
      <p:sp>
        <p:nvSpPr>
          <p:cNvPr id="4" name="Rectangle 5">
            <a:hlinkClick r:id="rId2"/>
          </p:cNvPr>
          <p:cNvSpPr>
            <a:spLocks noChangeArrowheads="1"/>
          </p:cNvSpPr>
          <p:nvPr/>
        </p:nvSpPr>
        <p:spPr bwMode="auto">
          <a:xfrm>
            <a:off x="2438400" y="6253186"/>
            <a:ext cx="3810000" cy="533400"/>
          </a:xfrm>
          <a:prstGeom prst="rect">
            <a:avLst/>
          </a:prstGeom>
          <a:solidFill>
            <a:schemeClr val="bg1"/>
          </a:solidFill>
          <a:ln w="9525">
            <a:solidFill>
              <a:schemeClr val="bg1"/>
            </a:solidFill>
            <a:miter lim="800000"/>
            <a:headEnd/>
            <a:tailEnd/>
          </a:ln>
        </p:spPr>
        <p:txBody>
          <a:bodyPr wrap="none" anchor="ctr"/>
          <a:lstStyle/>
          <a:p>
            <a:pPr algn="ctr">
              <a:defRPr/>
            </a:pPr>
            <a:r>
              <a:rPr lang="en-IN" sz="2000" i="1" u="sng" dirty="0">
                <a:solidFill>
                  <a:schemeClr val="accent6">
                    <a:lumMod val="50000"/>
                  </a:schemeClr>
                </a:solidFill>
                <a:cs typeface="Times New Roman" pitchFamily="18" charset="0"/>
              </a:rPr>
              <a:t>Visit for more Learning Resources</a:t>
            </a:r>
            <a:endParaRPr lang="en-US" sz="2000" b="1" dirty="0">
              <a:solidFill>
                <a:schemeClr val="accent6">
                  <a:lumMod val="50000"/>
                </a:schemeClr>
              </a:solidFill>
            </a:endParaRPr>
          </a:p>
        </p:txBody>
      </p:sp>
    </p:spTree>
    <p:extLst>
      <p:ext uri="{BB962C8B-B14F-4D97-AF65-F5344CB8AC3E}">
        <p14:creationId xmlns:p14="http://schemas.microsoft.com/office/powerpoint/2010/main" val="16332454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Features of Pentium Processor</a:t>
            </a:r>
          </a:p>
        </p:txBody>
      </p:sp>
      <p:sp>
        <p:nvSpPr>
          <p:cNvPr id="3" name="Content Placeholder 2"/>
          <p:cNvSpPr>
            <a:spLocks noGrp="1"/>
          </p:cNvSpPr>
          <p:nvPr>
            <p:ph idx="1"/>
          </p:nvPr>
        </p:nvSpPr>
        <p:spPr/>
        <p:txBody>
          <a:bodyPr>
            <a:normAutofit fontScale="85000" lnSpcReduction="10000"/>
          </a:bodyPr>
          <a:lstStyle/>
          <a:p>
            <a:r>
              <a:rPr lang="en-US" dirty="0"/>
              <a:t>Separate instruction and Data caches.</a:t>
            </a:r>
          </a:p>
          <a:p>
            <a:r>
              <a:rPr lang="en-US" dirty="0"/>
              <a:t>Dual integer pipelines i.e. U-pipeline and V-Pipeline.</a:t>
            </a:r>
          </a:p>
          <a:p>
            <a:r>
              <a:rPr lang="en-US" dirty="0"/>
              <a:t>Branch prediction using the branch target buffer (BTB).</a:t>
            </a:r>
          </a:p>
          <a:p>
            <a:r>
              <a:rPr lang="en-US" dirty="0" err="1"/>
              <a:t>Pipeliened</a:t>
            </a:r>
            <a:r>
              <a:rPr lang="en-US" dirty="0"/>
              <a:t> floating point unit.</a:t>
            </a:r>
          </a:p>
          <a:p>
            <a:r>
              <a:rPr lang="en-US" dirty="0"/>
              <a:t>64- bit external data bus.</a:t>
            </a:r>
          </a:p>
          <a:p>
            <a:r>
              <a:rPr lang="en-US" dirty="0"/>
              <a:t>Even-parity checking is implemented for data bus, caches and TLBs (</a:t>
            </a:r>
            <a:r>
              <a:rPr lang="en-US" sz="2800" b="0" i="0" dirty="0">
                <a:solidFill>
                  <a:srgbClr val="202124"/>
                </a:solidFill>
                <a:effectLst/>
                <a:latin typeface="arial" panose="020B0604020202020204" pitchFamily="34" charset="0"/>
              </a:rPr>
              <a:t>A translation lookaside buffer (TLB) is </a:t>
            </a:r>
            <a:r>
              <a:rPr lang="en-US" sz="2800" b="1" i="0" dirty="0">
                <a:solidFill>
                  <a:srgbClr val="202124"/>
                </a:solidFill>
                <a:effectLst/>
                <a:latin typeface="arial" panose="020B0604020202020204" pitchFamily="34" charset="0"/>
              </a:rPr>
              <a:t>a memory cache that stores recent translations of virtual memory to physical addresses for </a:t>
            </a:r>
            <a:r>
              <a:rPr lang="en-US" sz="2800" b="1" i="0">
                <a:solidFill>
                  <a:srgbClr val="202124"/>
                </a:solidFill>
                <a:effectLst/>
                <a:latin typeface="arial" panose="020B0604020202020204" pitchFamily="34" charset="0"/>
              </a:rPr>
              <a:t>faster retrieval)</a:t>
            </a:r>
            <a:endParaRPr lang="en-US" sz="2800" dirty="0"/>
          </a:p>
        </p:txBody>
      </p:sp>
    </p:spTree>
    <p:extLst>
      <p:ext uri="{BB962C8B-B14F-4D97-AF65-F5344CB8AC3E}">
        <p14:creationId xmlns:p14="http://schemas.microsoft.com/office/powerpoint/2010/main" val="3136356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Salient Features</a:t>
            </a:r>
          </a:p>
        </p:txBody>
      </p:sp>
      <p:sp>
        <p:nvSpPr>
          <p:cNvPr id="3" name="Content Placeholder 2"/>
          <p:cNvSpPr>
            <a:spLocks noGrp="1"/>
          </p:cNvSpPr>
          <p:nvPr>
            <p:ph idx="1"/>
          </p:nvPr>
        </p:nvSpPr>
        <p:spPr/>
        <p:txBody>
          <a:bodyPr>
            <a:normAutofit fontScale="92500"/>
          </a:bodyPr>
          <a:lstStyle/>
          <a:p>
            <a:pPr algn="just"/>
            <a:r>
              <a:rPr lang="en-US" dirty="0"/>
              <a:t>32- bit Superscalar and super-pipelined architecture </a:t>
            </a:r>
          </a:p>
          <a:p>
            <a:pPr algn="just"/>
            <a:r>
              <a:rPr lang="en-US" dirty="0"/>
              <a:t>32-bit address bus can address up to 4GB of physical memory.</a:t>
            </a:r>
          </a:p>
          <a:p>
            <a:pPr algn="just"/>
            <a:r>
              <a:rPr lang="en-US" dirty="0"/>
              <a:t>64- bit data bus so arithmetic and logical operation can be perform on 64-bit operand.</a:t>
            </a:r>
          </a:p>
          <a:p>
            <a:pPr algn="just"/>
            <a:r>
              <a:rPr lang="en-US" dirty="0"/>
              <a:t>Two integer pipeline U and V with two ALU’s provide one-clock execution for core instructions which Improved Instructions to execute Time.</a:t>
            </a:r>
          </a:p>
        </p:txBody>
      </p:sp>
    </p:spTree>
    <p:extLst>
      <p:ext uri="{BB962C8B-B14F-4D97-AF65-F5344CB8AC3E}">
        <p14:creationId xmlns:p14="http://schemas.microsoft.com/office/powerpoint/2010/main" val="500533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80789"/>
            <a:ext cx="8229600" cy="5516563"/>
          </a:xfrm>
        </p:spPr>
        <p:txBody>
          <a:bodyPr>
            <a:normAutofit lnSpcReduction="10000"/>
          </a:bodyPr>
          <a:lstStyle/>
          <a:p>
            <a:pPr algn="just"/>
            <a:r>
              <a:rPr lang="en-US" dirty="0"/>
              <a:t>Support five stage pipeline enables multiple instructions to execute in parallel with high efficiency.</a:t>
            </a:r>
          </a:p>
          <a:p>
            <a:pPr algn="just"/>
            <a:r>
              <a:rPr lang="en-US" dirty="0"/>
              <a:t>Two 8 KB caches memories, one for data and other for code.</a:t>
            </a:r>
          </a:p>
          <a:p>
            <a:pPr algn="just"/>
            <a:r>
              <a:rPr lang="en-US" dirty="0"/>
              <a:t>On- chip pipelined floating point coprocessor.</a:t>
            </a:r>
          </a:p>
          <a:p>
            <a:pPr algn="just"/>
            <a:r>
              <a:rPr lang="en-US" dirty="0"/>
              <a:t>Support power management feature i.e. System Management mode and Clock Control.</a:t>
            </a:r>
          </a:p>
          <a:p>
            <a:pPr algn="just"/>
            <a:r>
              <a:rPr lang="en-US" dirty="0"/>
              <a:t>Enhanced branch prediction buffer.</a:t>
            </a:r>
          </a:p>
          <a:p>
            <a:pPr algn="just"/>
            <a:r>
              <a:rPr lang="en-US" dirty="0"/>
              <a:t>On-chip memory management unit.</a:t>
            </a:r>
          </a:p>
          <a:p>
            <a:pPr algn="just"/>
            <a:r>
              <a:rPr lang="en-US" dirty="0"/>
              <a:t>Support multiprogramming and multitasking.</a:t>
            </a:r>
          </a:p>
          <a:p>
            <a:pPr algn="just"/>
            <a:endParaRPr lang="en-US" dirty="0"/>
          </a:p>
        </p:txBody>
      </p:sp>
    </p:spTree>
    <p:extLst>
      <p:ext uri="{BB962C8B-B14F-4D97-AF65-F5344CB8AC3E}">
        <p14:creationId xmlns:p14="http://schemas.microsoft.com/office/powerpoint/2010/main" val="6008666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lstStyle/>
          <a:p>
            <a:pPr algn="just"/>
            <a:r>
              <a:rPr lang="en-US" dirty="0"/>
              <a:t>Internal error Detection features.</a:t>
            </a:r>
          </a:p>
          <a:p>
            <a:pPr algn="just"/>
            <a:r>
              <a:rPr lang="en-US" dirty="0"/>
              <a:t>Supports Bus cycle Pipelining, Address Parity and Internal Parity Checking, Functional Redundancy checking, Execution Tracing, Performance Monitoring.</a:t>
            </a:r>
          </a:p>
        </p:txBody>
      </p:sp>
    </p:spTree>
    <p:extLst>
      <p:ext uri="{BB962C8B-B14F-4D97-AF65-F5344CB8AC3E}">
        <p14:creationId xmlns:p14="http://schemas.microsoft.com/office/powerpoint/2010/main" val="332549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Superscalar Execution</a:t>
            </a:r>
          </a:p>
        </p:txBody>
      </p:sp>
      <p:sp>
        <p:nvSpPr>
          <p:cNvPr id="3" name="Content Placeholder 2"/>
          <p:cNvSpPr>
            <a:spLocks noGrp="1"/>
          </p:cNvSpPr>
          <p:nvPr>
            <p:ph idx="1"/>
          </p:nvPr>
        </p:nvSpPr>
        <p:spPr/>
        <p:txBody>
          <a:bodyPr>
            <a:normAutofit lnSpcReduction="10000"/>
          </a:bodyPr>
          <a:lstStyle/>
          <a:p>
            <a:pPr algn="just"/>
            <a:r>
              <a:rPr lang="en-US" dirty="0"/>
              <a:t>It supports superscalar pipeline architecture.</a:t>
            </a:r>
          </a:p>
          <a:p>
            <a:pPr algn="just"/>
            <a:r>
              <a:rPr lang="en-US" dirty="0"/>
              <a:t>The Pentium processor sends two instructions in parallel to the two independent integer pipeline known as U and V pipelines for execution of multiple instructions concurrently.</a:t>
            </a:r>
          </a:p>
          <a:p>
            <a:pPr algn="just"/>
            <a:r>
              <a:rPr lang="en-US" dirty="0"/>
              <a:t>Thus, processor capable of parallel instruction execution of multiple instructions is known as </a:t>
            </a:r>
            <a:r>
              <a:rPr lang="en-US" b="1" dirty="0"/>
              <a:t>Superscalar Machine.</a:t>
            </a:r>
          </a:p>
        </p:txBody>
      </p:sp>
    </p:spTree>
    <p:extLst>
      <p:ext uri="{BB962C8B-B14F-4D97-AF65-F5344CB8AC3E}">
        <p14:creationId xmlns:p14="http://schemas.microsoft.com/office/powerpoint/2010/main" val="1769176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lstStyle/>
          <a:p>
            <a:r>
              <a:rPr lang="en-US" dirty="0"/>
              <a:t>Each of these pipeline i.e. U and V, has 65 stages of execution i.e. </a:t>
            </a:r>
          </a:p>
          <a:p>
            <a:pPr lvl="1"/>
            <a:r>
              <a:rPr lang="en-US" b="1" dirty="0" err="1"/>
              <a:t>Prefetch</a:t>
            </a:r>
            <a:endParaRPr lang="en-US" b="1" dirty="0"/>
          </a:p>
          <a:p>
            <a:pPr lvl="1"/>
            <a:r>
              <a:rPr lang="en-US" b="1" dirty="0"/>
              <a:t>First Decode</a:t>
            </a:r>
          </a:p>
          <a:p>
            <a:pPr lvl="1"/>
            <a:r>
              <a:rPr lang="en-US" b="1" dirty="0"/>
              <a:t>Second Decode</a:t>
            </a:r>
          </a:p>
          <a:p>
            <a:pPr lvl="1"/>
            <a:r>
              <a:rPr lang="en-US" b="1" dirty="0"/>
              <a:t>Execute</a:t>
            </a:r>
          </a:p>
          <a:p>
            <a:pPr lvl="1"/>
            <a:r>
              <a:rPr lang="en-US" b="1" dirty="0"/>
              <a:t>Write Back</a:t>
            </a:r>
          </a:p>
        </p:txBody>
      </p:sp>
    </p:spTree>
    <p:extLst>
      <p:ext uri="{BB962C8B-B14F-4D97-AF65-F5344CB8AC3E}">
        <p14:creationId xmlns:p14="http://schemas.microsoft.com/office/powerpoint/2010/main" val="178333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85800"/>
            <a:ext cx="8229600" cy="5440363"/>
          </a:xfrm>
        </p:spPr>
        <p:txBody>
          <a:bodyPr>
            <a:normAutofit lnSpcReduction="10000"/>
          </a:bodyPr>
          <a:lstStyle/>
          <a:p>
            <a:pPr marL="514350" indent="-514350" algn="just">
              <a:buFont typeface="+mj-lt"/>
              <a:buAutoNum type="arabicPeriod"/>
            </a:pPr>
            <a:r>
              <a:rPr lang="en-US" b="1" dirty="0"/>
              <a:t>Pre-fetch (PF):</a:t>
            </a:r>
            <a:r>
              <a:rPr lang="en-US" dirty="0"/>
              <a:t> In this stage, instructions are prefetched by </a:t>
            </a:r>
            <a:r>
              <a:rPr lang="en-US" dirty="0" err="1"/>
              <a:t>prefetch</a:t>
            </a:r>
            <a:r>
              <a:rPr lang="en-US" dirty="0"/>
              <a:t> buffer through U and V </a:t>
            </a:r>
            <a:r>
              <a:rPr lang="en-US" dirty="0" err="1"/>
              <a:t>pipelene</a:t>
            </a:r>
            <a:r>
              <a:rPr lang="en-US" dirty="0"/>
              <a:t> from the on-chip instruction cache.</a:t>
            </a:r>
          </a:p>
          <a:p>
            <a:pPr marL="514350" indent="-514350" algn="just">
              <a:buFont typeface="+mj-lt"/>
              <a:buAutoNum type="arabicPeriod"/>
            </a:pPr>
            <a:r>
              <a:rPr lang="en-US" b="1" dirty="0"/>
              <a:t>First Decode (D1):</a:t>
            </a:r>
            <a:r>
              <a:rPr lang="en-US" dirty="0"/>
              <a:t> In this stage, two decoders decode the instructions to generate a control word and try to pair them together so they can run in parallel.</a:t>
            </a:r>
          </a:p>
          <a:p>
            <a:pPr marL="514350" indent="-514350" algn="just">
              <a:buFont typeface="+mj-lt"/>
              <a:buAutoNum type="arabicPeriod"/>
            </a:pPr>
            <a:r>
              <a:rPr lang="en-US" b="1" dirty="0"/>
              <a:t>Second Decode (D2): </a:t>
            </a:r>
            <a:r>
              <a:rPr lang="en-US" dirty="0"/>
              <a:t>In this stage, the CPU decodes the control word and calculates the address of memory operand.</a:t>
            </a:r>
          </a:p>
          <a:p>
            <a:pPr marL="0" indent="0" algn="just">
              <a:buNone/>
            </a:pPr>
            <a:endParaRPr lang="en-US" b="1" dirty="0"/>
          </a:p>
        </p:txBody>
      </p:sp>
    </p:spTree>
    <p:extLst>
      <p:ext uri="{BB962C8B-B14F-4D97-AF65-F5344CB8AC3E}">
        <p14:creationId xmlns:p14="http://schemas.microsoft.com/office/powerpoint/2010/main" val="35574979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85800"/>
            <a:ext cx="8305800" cy="5440363"/>
          </a:xfrm>
        </p:spPr>
        <p:txBody>
          <a:bodyPr/>
          <a:lstStyle/>
          <a:p>
            <a:pPr marL="514350" indent="-514350">
              <a:buFont typeface="+mj-lt"/>
              <a:buAutoNum type="arabicPeriod" startAt="4"/>
            </a:pPr>
            <a:r>
              <a:rPr lang="en-US" b="1" dirty="0"/>
              <a:t>Execute (EX): </a:t>
            </a:r>
            <a:r>
              <a:rPr lang="en-US" dirty="0"/>
              <a:t>The instruction is </a:t>
            </a:r>
            <a:r>
              <a:rPr lang="en-US" dirty="0" err="1"/>
              <a:t>executrd</a:t>
            </a:r>
            <a:r>
              <a:rPr lang="en-US" dirty="0"/>
              <a:t> in ALU and data cache is accessed at this stage. For both ALU and data cache access requires more than one clock.</a:t>
            </a:r>
          </a:p>
          <a:p>
            <a:pPr marL="514350" indent="-514350">
              <a:buFont typeface="+mj-lt"/>
              <a:buAutoNum type="arabicPeriod" startAt="4"/>
            </a:pPr>
            <a:r>
              <a:rPr lang="en-US" b="1" dirty="0"/>
              <a:t>Write Back (WB): </a:t>
            </a:r>
            <a:r>
              <a:rPr lang="en-US" dirty="0"/>
              <a:t>In this stage, the CPU stores result and update the flags.</a:t>
            </a:r>
            <a:endParaRPr lang="en-US" b="1" dirty="0"/>
          </a:p>
        </p:txBody>
      </p:sp>
    </p:spTree>
    <p:extLst>
      <p:ext uri="{BB962C8B-B14F-4D97-AF65-F5344CB8AC3E}">
        <p14:creationId xmlns:p14="http://schemas.microsoft.com/office/powerpoint/2010/main" val="30894193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nternal Architecture of Pentium Processor">
            <a:hlinkClick r:id="rId2"/>
            <a:extLst>
              <a:ext uri="{FF2B5EF4-FFF2-40B4-BE49-F238E27FC236}">
                <a16:creationId xmlns:a16="http://schemas.microsoft.com/office/drawing/2014/main" id="{19E0E5C3-7128-B55C-C009-E0AD0AA415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123950"/>
            <a:ext cx="5976664" cy="5041354"/>
          </a:xfrm>
          <a:prstGeom prst="rect">
            <a:avLst/>
          </a:prstGeom>
          <a:noFill/>
          <a:ln>
            <a:noFill/>
          </a:ln>
        </p:spPr>
      </p:pic>
    </p:spTree>
    <p:extLst>
      <p:ext uri="{BB962C8B-B14F-4D97-AF65-F5344CB8AC3E}">
        <p14:creationId xmlns:p14="http://schemas.microsoft.com/office/powerpoint/2010/main" val="14670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Separate Code and Data Caches:</a:t>
            </a:r>
          </a:p>
        </p:txBody>
      </p:sp>
      <p:sp>
        <p:nvSpPr>
          <p:cNvPr id="3" name="Content Placeholder 2"/>
          <p:cNvSpPr>
            <a:spLocks noGrp="1"/>
          </p:cNvSpPr>
          <p:nvPr>
            <p:ph idx="1"/>
          </p:nvPr>
        </p:nvSpPr>
        <p:spPr/>
        <p:txBody>
          <a:bodyPr>
            <a:normAutofit fontScale="92500" lnSpcReduction="20000"/>
          </a:bodyPr>
          <a:lstStyle/>
          <a:p>
            <a:pPr algn="just"/>
            <a:r>
              <a:rPr lang="en-US" dirty="0"/>
              <a:t>Pentium has two separate 8KB caches for code and data as the superscalar design and branch prediction need more bandwidth than a unified cache.</a:t>
            </a:r>
          </a:p>
          <a:p>
            <a:pPr algn="just"/>
            <a:r>
              <a:rPr lang="en-US" dirty="0"/>
              <a:t>The data cache has a dedicated TLB to translate linear address into physical address used by data cache.</a:t>
            </a:r>
          </a:p>
          <a:p>
            <a:pPr algn="just"/>
            <a:r>
              <a:rPr lang="en-US" dirty="0"/>
              <a:t>The code cache is responsible for getting raw instructions into execution unis of the Pentium processor and hence instructions are fetched from the code cache.</a:t>
            </a:r>
          </a:p>
          <a:p>
            <a:pPr algn="just"/>
            <a:endParaRPr lang="en-US" dirty="0"/>
          </a:p>
        </p:txBody>
      </p:sp>
    </p:spTree>
    <p:extLst>
      <p:ext uri="{BB962C8B-B14F-4D97-AF65-F5344CB8AC3E}">
        <p14:creationId xmlns:p14="http://schemas.microsoft.com/office/powerpoint/2010/main" val="8519256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Advantages of having Separate Code and Data Caches</a:t>
            </a:r>
          </a:p>
        </p:txBody>
      </p:sp>
      <p:sp>
        <p:nvSpPr>
          <p:cNvPr id="3" name="Content Placeholder 2"/>
          <p:cNvSpPr>
            <a:spLocks noGrp="1"/>
          </p:cNvSpPr>
          <p:nvPr>
            <p:ph idx="1"/>
          </p:nvPr>
        </p:nvSpPr>
        <p:spPr/>
        <p:txBody>
          <a:bodyPr>
            <a:normAutofit fontScale="85000" lnSpcReduction="20000"/>
          </a:bodyPr>
          <a:lstStyle/>
          <a:p>
            <a:pPr algn="just"/>
            <a:r>
              <a:rPr lang="en-US" dirty="0"/>
              <a:t>Separate caches efficiently execute the branch prediction.</a:t>
            </a:r>
          </a:p>
          <a:p>
            <a:pPr algn="just"/>
            <a:r>
              <a:rPr lang="en-US" dirty="0"/>
              <a:t>Caches raise system performance i.e. an internal read request is performed more quickly than a bus cycle to memory.</a:t>
            </a:r>
          </a:p>
          <a:p>
            <a:pPr algn="just"/>
            <a:r>
              <a:rPr lang="en-US" dirty="0"/>
              <a:t>Separate caches also reduce the processor’s use of the external bus when the same location are accessed multiple times.</a:t>
            </a:r>
          </a:p>
          <a:p>
            <a:pPr algn="just"/>
            <a:r>
              <a:rPr lang="en-US" dirty="0"/>
              <a:t>Separate caches for instructions a and data allow simultaneous cache look-up.</a:t>
            </a:r>
          </a:p>
          <a:p>
            <a:pPr algn="just"/>
            <a:r>
              <a:rPr lang="en-US" dirty="0"/>
              <a:t>Up to two data references and up to 32 bytes of raw op-codes can be accessed In one clock.</a:t>
            </a:r>
          </a:p>
        </p:txBody>
      </p:sp>
    </p:spTree>
    <p:extLst>
      <p:ext uri="{BB962C8B-B14F-4D97-AF65-F5344CB8AC3E}">
        <p14:creationId xmlns:p14="http://schemas.microsoft.com/office/powerpoint/2010/main" val="39549701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b="1" dirty="0"/>
              <a:t>Branch Prediction</a:t>
            </a:r>
          </a:p>
        </p:txBody>
      </p:sp>
      <p:sp>
        <p:nvSpPr>
          <p:cNvPr id="3" name="Content Placeholder 2"/>
          <p:cNvSpPr>
            <a:spLocks noGrp="1"/>
          </p:cNvSpPr>
          <p:nvPr>
            <p:ph idx="1"/>
          </p:nvPr>
        </p:nvSpPr>
        <p:spPr>
          <a:xfrm>
            <a:off x="457200" y="1143000"/>
            <a:ext cx="8229600" cy="5181600"/>
          </a:xfrm>
        </p:spPr>
        <p:txBody>
          <a:bodyPr>
            <a:normAutofit fontScale="92500" lnSpcReduction="20000"/>
          </a:bodyPr>
          <a:lstStyle/>
          <a:p>
            <a:pPr algn="just"/>
            <a:r>
              <a:rPr lang="en-US" dirty="0"/>
              <a:t>Branch prediction is used to predict the most likely set of instruction to be executed and </a:t>
            </a:r>
            <a:r>
              <a:rPr lang="en-US" dirty="0" err="1"/>
              <a:t>prefetch</a:t>
            </a:r>
            <a:r>
              <a:rPr lang="en-US" dirty="0"/>
              <a:t> to make them available to the pipeline as and when they are called.</a:t>
            </a:r>
          </a:p>
          <a:p>
            <a:pPr algn="just"/>
            <a:r>
              <a:rPr lang="en-US" dirty="0"/>
              <a:t>Hence the </a:t>
            </a:r>
            <a:r>
              <a:rPr lang="en-US" dirty="0" err="1"/>
              <a:t>pentium</a:t>
            </a:r>
            <a:r>
              <a:rPr lang="en-US" dirty="0"/>
              <a:t> processor incorporate a branch target buffer (BTB), which is an associative memory used to improve the performance if it takes the branch </a:t>
            </a:r>
            <a:r>
              <a:rPr lang="en-US" dirty="0" err="1"/>
              <a:t>instrction</a:t>
            </a:r>
            <a:r>
              <a:rPr lang="en-US" dirty="0"/>
              <a:t>.</a:t>
            </a:r>
          </a:p>
          <a:p>
            <a:pPr algn="just"/>
            <a:r>
              <a:rPr lang="en-US" dirty="0"/>
              <a:t>Branch instructions of </a:t>
            </a:r>
            <a:r>
              <a:rPr lang="en-US" dirty="0" err="1"/>
              <a:t>pentium</a:t>
            </a:r>
            <a:r>
              <a:rPr lang="en-US" dirty="0"/>
              <a:t> processor change the normal sequential control flow of the program execution and may stall the pipelined execution in the </a:t>
            </a:r>
            <a:r>
              <a:rPr lang="en-US" dirty="0" err="1"/>
              <a:t>pentium</a:t>
            </a:r>
            <a:r>
              <a:rPr lang="en-US" dirty="0"/>
              <a:t> system.</a:t>
            </a:r>
          </a:p>
        </p:txBody>
      </p:sp>
    </p:spTree>
    <p:extLst>
      <p:ext uri="{BB962C8B-B14F-4D97-AF65-F5344CB8AC3E}">
        <p14:creationId xmlns:p14="http://schemas.microsoft.com/office/powerpoint/2010/main" val="2065758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8305800" cy="5516563"/>
          </a:xfrm>
        </p:spPr>
        <p:txBody>
          <a:bodyPr>
            <a:normAutofit fontScale="92500" lnSpcReduction="20000"/>
          </a:bodyPr>
          <a:lstStyle/>
          <a:p>
            <a:pPr algn="just"/>
            <a:r>
              <a:rPr lang="en-US" dirty="0"/>
              <a:t>Branches instruction is of two types i.e. conditional and unconditional branch.</a:t>
            </a:r>
          </a:p>
          <a:p>
            <a:pPr algn="just"/>
            <a:r>
              <a:rPr lang="en-US" dirty="0"/>
              <a:t>During the conditional branching, the CPU has two wait till the execution stage to determine whether the condition is satisfied or not.</a:t>
            </a:r>
          </a:p>
          <a:p>
            <a:pPr algn="just"/>
            <a:r>
              <a:rPr lang="en-US" dirty="0"/>
              <a:t>When the condition satisfies, a branching is to be taken using branch prediction algorithm for speed up of the instruction execution.</a:t>
            </a:r>
          </a:p>
          <a:p>
            <a:pPr algn="just"/>
            <a:r>
              <a:rPr lang="en-US" dirty="0"/>
              <a:t>In </a:t>
            </a:r>
            <a:r>
              <a:rPr lang="en-US" dirty="0" err="1"/>
              <a:t>pentium</a:t>
            </a:r>
            <a:r>
              <a:rPr lang="en-US" dirty="0"/>
              <a:t> Processor, BTB can have 256 entries which contains the branch target address for previously executed branches.</a:t>
            </a:r>
          </a:p>
          <a:p>
            <a:pPr algn="just"/>
            <a:r>
              <a:rPr lang="en-US" dirty="0"/>
              <a:t>The BTB is four ways set associative on-chip memory.</a:t>
            </a:r>
          </a:p>
        </p:txBody>
      </p:sp>
    </p:spTree>
    <p:extLst>
      <p:ext uri="{BB962C8B-B14F-4D97-AF65-F5344CB8AC3E}">
        <p14:creationId xmlns:p14="http://schemas.microsoft.com/office/powerpoint/2010/main" val="36697305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5800"/>
            <a:ext cx="8153400" cy="5440363"/>
          </a:xfrm>
        </p:spPr>
        <p:txBody>
          <a:bodyPr>
            <a:normAutofit fontScale="85000" lnSpcReduction="20000"/>
          </a:bodyPr>
          <a:lstStyle/>
          <a:p>
            <a:pPr algn="just"/>
            <a:r>
              <a:rPr lang="en-US" dirty="0"/>
              <a:t>Whenever the branching occurs, the CPU checks the branch instruction address and the destination address in the BTB.</a:t>
            </a:r>
          </a:p>
          <a:p>
            <a:pPr algn="just"/>
            <a:r>
              <a:rPr lang="en-US" dirty="0"/>
              <a:t>When the instruction is decoded, the CPU searches the branch target buffer to decide whether any entry exists for a corresponding branch instruction.</a:t>
            </a:r>
          </a:p>
          <a:p>
            <a:pPr algn="just"/>
            <a:r>
              <a:rPr lang="en-US" dirty="0"/>
              <a:t>If BTB is hit, i.e. if BTB exist such entries, then the CPU use the history to decide whether the branch will be taken or not.</a:t>
            </a:r>
          </a:p>
          <a:p>
            <a:pPr algn="just"/>
            <a:r>
              <a:rPr lang="en-US" dirty="0"/>
              <a:t>If the entry exist in its previous history in BTB to take the branch, the CPU fetches the instruction from the target address and decodes them.</a:t>
            </a:r>
          </a:p>
          <a:p>
            <a:pPr algn="just"/>
            <a:r>
              <a:rPr lang="en-US" dirty="0"/>
              <a:t>If the branch prediction is correct, the process continue else the CPU clears the pipeline and fetches from the appropriate target address.</a:t>
            </a:r>
          </a:p>
        </p:txBody>
      </p:sp>
    </p:spTree>
    <p:extLst>
      <p:ext uri="{BB962C8B-B14F-4D97-AF65-F5344CB8AC3E}">
        <p14:creationId xmlns:p14="http://schemas.microsoft.com/office/powerpoint/2010/main" val="4165271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Floating point Unit</a:t>
            </a:r>
          </a:p>
        </p:txBody>
      </p:sp>
      <p:sp>
        <p:nvSpPr>
          <p:cNvPr id="3" name="Content Placeholder 2"/>
          <p:cNvSpPr>
            <a:spLocks noGrp="1"/>
          </p:cNvSpPr>
          <p:nvPr>
            <p:ph idx="1"/>
          </p:nvPr>
        </p:nvSpPr>
        <p:spPr/>
        <p:txBody>
          <a:bodyPr>
            <a:normAutofit lnSpcReduction="10000"/>
          </a:bodyPr>
          <a:lstStyle/>
          <a:p>
            <a:pPr algn="just"/>
            <a:r>
              <a:rPr lang="en-US" dirty="0"/>
              <a:t>The Pentium contains an on chip floating point unit that provides  significant floating point performance advantage over previous generations of processors.</a:t>
            </a:r>
          </a:p>
          <a:p>
            <a:pPr algn="just"/>
            <a:r>
              <a:rPr lang="en-US" dirty="0"/>
              <a:t>Providing the coprocessor onto the same chip as the processor, </a:t>
            </a:r>
            <a:r>
              <a:rPr lang="en-US" dirty="0" err="1"/>
              <a:t>pentium</a:t>
            </a:r>
            <a:r>
              <a:rPr lang="en-US" dirty="0"/>
              <a:t> allows faster communication and quicker execution.</a:t>
            </a:r>
          </a:p>
          <a:p>
            <a:pPr algn="just"/>
            <a:r>
              <a:rPr lang="en-US" dirty="0"/>
              <a:t>Thus many floating point instructions requires fewer clock cycles that the previous 80X87.</a:t>
            </a:r>
          </a:p>
        </p:txBody>
      </p:sp>
    </p:spTree>
    <p:extLst>
      <p:ext uri="{BB962C8B-B14F-4D97-AF65-F5344CB8AC3E}">
        <p14:creationId xmlns:p14="http://schemas.microsoft.com/office/powerpoint/2010/main" val="1815134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Floating Point Pipeline</a:t>
            </a:r>
          </a:p>
        </p:txBody>
      </p:sp>
      <p:sp>
        <p:nvSpPr>
          <p:cNvPr id="3" name="Content Placeholder 2"/>
          <p:cNvSpPr>
            <a:spLocks noGrp="1"/>
          </p:cNvSpPr>
          <p:nvPr>
            <p:ph idx="1"/>
          </p:nvPr>
        </p:nvSpPr>
        <p:spPr/>
        <p:txBody>
          <a:bodyPr>
            <a:normAutofit fontScale="92500" lnSpcReduction="20000"/>
          </a:bodyPr>
          <a:lstStyle/>
          <a:p>
            <a:pPr algn="just"/>
            <a:r>
              <a:rPr lang="en-US" dirty="0"/>
              <a:t>The floating point pipeline of Pentium consists of eight stages which are used to speedup the execution of floating point unit. Hence, it is necessary floating point pipeline.</a:t>
            </a:r>
          </a:p>
          <a:p>
            <a:pPr algn="just"/>
            <a:r>
              <a:rPr lang="en-US" dirty="0"/>
              <a:t>These are </a:t>
            </a:r>
            <a:r>
              <a:rPr lang="en-US" dirty="0" err="1"/>
              <a:t>prefetch</a:t>
            </a:r>
            <a:r>
              <a:rPr lang="en-US" dirty="0"/>
              <a:t>, first decode, second decode, operand fetch, first execute, second execute, write float and error reporting.</a:t>
            </a:r>
          </a:p>
          <a:p>
            <a:pPr algn="just"/>
            <a:r>
              <a:rPr lang="en-US" dirty="0"/>
              <a:t>Floating point unit has eight stage pipeline which gives a single cycle execution for many of floating point instructions such as  floating adds, subtract, multiply and compare</a:t>
            </a:r>
          </a:p>
        </p:txBody>
      </p:sp>
    </p:spTree>
    <p:extLst>
      <p:ext uri="{BB962C8B-B14F-4D97-AF65-F5344CB8AC3E}">
        <p14:creationId xmlns:p14="http://schemas.microsoft.com/office/powerpoint/2010/main" val="1605601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609600"/>
            <a:ext cx="8229600" cy="5516563"/>
          </a:xfrm>
        </p:spPr>
        <p:txBody>
          <a:bodyPr>
            <a:normAutofit fontScale="92500" lnSpcReduction="20000"/>
          </a:bodyPr>
          <a:lstStyle/>
          <a:p>
            <a:pPr algn="just"/>
            <a:r>
              <a:rPr lang="en-US" dirty="0"/>
              <a:t>The stages and their functions are given below:</a:t>
            </a:r>
          </a:p>
          <a:p>
            <a:pPr marL="514350" indent="-514350" algn="just">
              <a:buFont typeface="+mj-lt"/>
              <a:buAutoNum type="arabicPeriod"/>
            </a:pPr>
            <a:r>
              <a:rPr lang="en-US" b="1" dirty="0"/>
              <a:t>PF:</a:t>
            </a:r>
            <a:r>
              <a:rPr lang="en-US" dirty="0"/>
              <a:t> Instructions are prefetched from the on chip instruction cache.</a:t>
            </a:r>
          </a:p>
          <a:p>
            <a:pPr marL="514350" indent="-514350" algn="just">
              <a:buFont typeface="+mj-lt"/>
              <a:buAutoNum type="arabicPeriod"/>
            </a:pPr>
            <a:r>
              <a:rPr lang="en-US" b="1" dirty="0"/>
              <a:t>D1: </a:t>
            </a:r>
            <a:r>
              <a:rPr lang="en-US" dirty="0"/>
              <a:t>Instruction decode to generate control word. A single control word causes direct execution of an instruction and complex instruction require micro-coded control sequence.</a:t>
            </a:r>
          </a:p>
          <a:p>
            <a:pPr marL="514350" indent="-514350" algn="just">
              <a:buFont typeface="+mj-lt"/>
              <a:buAutoNum type="arabicPeriod"/>
            </a:pPr>
            <a:r>
              <a:rPr lang="en-US" b="1" dirty="0"/>
              <a:t>D2: </a:t>
            </a:r>
            <a:r>
              <a:rPr lang="en-US" dirty="0"/>
              <a:t>Address of memory resident operand are calculated.</a:t>
            </a:r>
          </a:p>
          <a:p>
            <a:pPr marL="514350" indent="-514350" algn="just">
              <a:buFont typeface="+mj-lt"/>
              <a:buAutoNum type="arabicPeriod"/>
            </a:pPr>
            <a:r>
              <a:rPr lang="en-US" b="1" dirty="0"/>
              <a:t>Ex:</a:t>
            </a:r>
            <a:r>
              <a:rPr lang="en-US" dirty="0"/>
              <a:t> In this stage, register read, memory read or memory write operation is performed to access an operand as required by the </a:t>
            </a:r>
            <a:r>
              <a:rPr lang="en-US" dirty="0" err="1"/>
              <a:t>instructioin</a:t>
            </a:r>
            <a:r>
              <a:rPr lang="en-US" dirty="0"/>
              <a:t>.</a:t>
            </a:r>
            <a:endParaRPr lang="en-US" b="1" dirty="0"/>
          </a:p>
        </p:txBody>
      </p:sp>
    </p:spTree>
    <p:extLst>
      <p:ext uri="{BB962C8B-B14F-4D97-AF65-F5344CB8AC3E}">
        <p14:creationId xmlns:p14="http://schemas.microsoft.com/office/powerpoint/2010/main" val="2769707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609600"/>
            <a:ext cx="8229600" cy="5516563"/>
          </a:xfrm>
        </p:spPr>
        <p:txBody>
          <a:bodyPr>
            <a:normAutofit fontScale="92500" lnSpcReduction="20000"/>
          </a:bodyPr>
          <a:lstStyle/>
          <a:p>
            <a:pPr marL="514350" indent="-514350" algn="just">
              <a:buFont typeface="+mj-lt"/>
              <a:buAutoNum type="arabicPeriod" startAt="5"/>
            </a:pPr>
            <a:r>
              <a:rPr lang="en-US" b="1" dirty="0"/>
              <a:t>X1:</a:t>
            </a:r>
            <a:r>
              <a:rPr lang="en-US" dirty="0"/>
              <a:t> In this stage, the floating point data from register or memory is written into floating point register or memory is written into floating point register and converted to floating point format before loaded into the floating point unit.</a:t>
            </a:r>
          </a:p>
          <a:p>
            <a:pPr marL="514350" indent="-514350" algn="just">
              <a:buFont typeface="+mj-lt"/>
              <a:buAutoNum type="arabicPeriod" startAt="5"/>
            </a:pPr>
            <a:r>
              <a:rPr lang="en-US" b="1" dirty="0"/>
              <a:t>X2: </a:t>
            </a:r>
            <a:r>
              <a:rPr lang="en-US" dirty="0"/>
              <a:t>In this stage, the floating point operation is performed by floating point unit.</a:t>
            </a:r>
          </a:p>
          <a:p>
            <a:pPr marL="514350" indent="-514350" algn="just">
              <a:buFont typeface="+mj-lt"/>
              <a:buAutoNum type="arabicPeriod" startAt="5"/>
            </a:pPr>
            <a:r>
              <a:rPr lang="en-US" b="1" dirty="0"/>
              <a:t>WF: </a:t>
            </a:r>
            <a:r>
              <a:rPr lang="en-US" dirty="0"/>
              <a:t>In this stage, results or floating point operation are rounded and the written to the destination floating point register.</a:t>
            </a:r>
          </a:p>
          <a:p>
            <a:pPr marL="514350" indent="-514350" algn="just">
              <a:buFont typeface="+mj-lt"/>
              <a:buAutoNum type="arabicPeriod" startAt="5"/>
            </a:pPr>
            <a:r>
              <a:rPr lang="en-US" b="1" dirty="0"/>
              <a:t>ER: </a:t>
            </a:r>
            <a:r>
              <a:rPr lang="en-US" dirty="0"/>
              <a:t> In this stage, if any error is occurred during floating point execution, then it is reported and FPU status word is updated.</a:t>
            </a:r>
            <a:endParaRPr lang="en-US" b="1" dirty="0"/>
          </a:p>
        </p:txBody>
      </p:sp>
    </p:spTree>
    <p:extLst>
      <p:ext uri="{BB962C8B-B14F-4D97-AF65-F5344CB8AC3E}">
        <p14:creationId xmlns:p14="http://schemas.microsoft.com/office/powerpoint/2010/main" val="14042421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Floating point Exception</a:t>
            </a:r>
          </a:p>
        </p:txBody>
      </p:sp>
      <p:sp>
        <p:nvSpPr>
          <p:cNvPr id="3" name="Content Placeholder 2"/>
          <p:cNvSpPr>
            <a:spLocks noGrp="1"/>
          </p:cNvSpPr>
          <p:nvPr>
            <p:ph idx="1"/>
          </p:nvPr>
        </p:nvSpPr>
        <p:spPr/>
        <p:txBody>
          <a:bodyPr>
            <a:normAutofit fontScale="92500" lnSpcReduction="20000"/>
          </a:bodyPr>
          <a:lstStyle/>
          <a:p>
            <a:pPr algn="just"/>
            <a:r>
              <a:rPr lang="en-US" dirty="0"/>
              <a:t>There are six floating point exception condition while execution floating point instructions are available in status word register of Pentium FPU.</a:t>
            </a:r>
          </a:p>
          <a:p>
            <a:pPr algn="just"/>
            <a:r>
              <a:rPr lang="en-US" dirty="0"/>
              <a:t>These exceptions are:</a:t>
            </a:r>
          </a:p>
          <a:p>
            <a:pPr marL="514350" indent="-514350" algn="just">
              <a:buFont typeface="+mj-lt"/>
              <a:buAutoNum type="arabicPeriod"/>
            </a:pPr>
            <a:r>
              <a:rPr lang="en-US" b="1" dirty="0"/>
              <a:t>Invalid </a:t>
            </a:r>
            <a:r>
              <a:rPr lang="en-US" b="1" dirty="0" err="1"/>
              <a:t>Opeartions</a:t>
            </a:r>
            <a:r>
              <a:rPr lang="en-US" b="1" dirty="0"/>
              <a:t>:</a:t>
            </a:r>
          </a:p>
          <a:p>
            <a:pPr lvl="1" algn="just"/>
            <a:r>
              <a:rPr lang="en-US" dirty="0"/>
              <a:t>Stack overflow or underflow</a:t>
            </a:r>
          </a:p>
          <a:p>
            <a:pPr lvl="1" algn="just"/>
            <a:r>
              <a:rPr lang="en-US" dirty="0"/>
              <a:t>Invalid </a:t>
            </a:r>
            <a:r>
              <a:rPr lang="en-US" dirty="0" err="1"/>
              <a:t>arithmatic</a:t>
            </a:r>
            <a:r>
              <a:rPr lang="en-US" dirty="0"/>
              <a:t> operation</a:t>
            </a:r>
          </a:p>
          <a:p>
            <a:pPr marL="457200" lvl="1" indent="0" algn="just">
              <a:buNone/>
            </a:pPr>
            <a:r>
              <a:rPr lang="en-US" dirty="0"/>
              <a:t>This exception occurs when stack fault flag (SF) of the FPU status word indicates the type of operation i.e. stack overflow or Underflow for SF=1  and an arithmetic instruction has encountered an invalid operand for SF=1.</a:t>
            </a:r>
          </a:p>
        </p:txBody>
      </p:sp>
    </p:spTree>
    <p:extLst>
      <p:ext uri="{BB962C8B-B14F-4D97-AF65-F5344CB8AC3E}">
        <p14:creationId xmlns:p14="http://schemas.microsoft.com/office/powerpoint/2010/main" val="13093385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533400"/>
            <a:ext cx="8229600" cy="5592763"/>
          </a:xfrm>
        </p:spPr>
        <p:txBody>
          <a:bodyPr>
            <a:normAutofit fontScale="92500" lnSpcReduction="20000"/>
          </a:bodyPr>
          <a:lstStyle/>
          <a:p>
            <a:pPr marL="342900" lvl="1" indent="-342900" algn="just">
              <a:buFont typeface="Arial" panose="020B0604020202020204" pitchFamily="34" charset="0"/>
              <a:buChar char="•"/>
            </a:pPr>
            <a:r>
              <a:rPr lang="en-US" b="1" dirty="0"/>
              <a:t>Divide by zero:</a:t>
            </a:r>
            <a:r>
              <a:rPr lang="en-US" dirty="0"/>
              <a:t> This exception occurs </a:t>
            </a:r>
            <a:r>
              <a:rPr lang="en-US" dirty="0" err="1"/>
              <a:t>wheneveran</a:t>
            </a:r>
            <a:r>
              <a:rPr lang="en-US" dirty="0"/>
              <a:t> instruction attempts to </a:t>
            </a:r>
            <a:r>
              <a:rPr lang="en-US" dirty="0" err="1"/>
              <a:t>divid</a:t>
            </a:r>
            <a:r>
              <a:rPr lang="en-US" dirty="0"/>
              <a:t> a finite non-zero operand by 0.</a:t>
            </a:r>
          </a:p>
          <a:p>
            <a:pPr marL="342900" lvl="1" indent="-342900" algn="just">
              <a:buFont typeface="Arial" panose="020B0604020202020204" pitchFamily="34" charset="0"/>
              <a:buChar char="•"/>
            </a:pPr>
            <a:r>
              <a:rPr lang="en-US" b="1" dirty="0"/>
              <a:t>De-normalized operand exception: </a:t>
            </a:r>
            <a:r>
              <a:rPr lang="en-US" dirty="0"/>
              <a:t>The de-normal operand exception occurs if an arithmetic instruction attempts to operate on a de-normal operand or if an attempt is made to load de-normal single or double real value into an FPU register.</a:t>
            </a:r>
          </a:p>
          <a:p>
            <a:pPr marL="342900" lvl="1" indent="-342900" algn="just">
              <a:buFont typeface="Arial" panose="020B0604020202020204" pitchFamily="34" charset="0"/>
              <a:buChar char="•"/>
            </a:pPr>
            <a:r>
              <a:rPr lang="en-US" b="1" dirty="0"/>
              <a:t>Numeric flow exception: </a:t>
            </a:r>
            <a:r>
              <a:rPr lang="en-US" dirty="0"/>
              <a:t>This exception occurs whenever the rounded result of an arithmetic instruction is less than the smallest possible normalized, finite value that will fit into the real format of the destination operand.</a:t>
            </a:r>
          </a:p>
          <a:p>
            <a:pPr marL="342900" lvl="1" indent="-342900" algn="just">
              <a:buFont typeface="Arial" panose="020B0604020202020204" pitchFamily="34" charset="0"/>
              <a:buChar char="•"/>
            </a:pPr>
            <a:r>
              <a:rPr lang="en-US" b="1" dirty="0"/>
              <a:t>Inexact result (Precision) Exception: </a:t>
            </a:r>
            <a:r>
              <a:rPr lang="en-US" dirty="0"/>
              <a:t>This exception occurs if the result of an operation is not exactly representable in the destination format.</a:t>
            </a:r>
          </a:p>
        </p:txBody>
      </p:sp>
    </p:spTree>
    <p:extLst>
      <p:ext uri="{BB962C8B-B14F-4D97-AF65-F5344CB8AC3E}">
        <p14:creationId xmlns:p14="http://schemas.microsoft.com/office/powerpoint/2010/main" val="26247136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Comparison of 80386 and Pentium</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6161884"/>
              </p:ext>
            </p:extLst>
          </p:nvPr>
        </p:nvGraphicFramePr>
        <p:xfrm>
          <a:off x="457200" y="1600200"/>
          <a:ext cx="8229600" cy="4856480"/>
        </p:xfrm>
        <a:graphic>
          <a:graphicData uri="http://schemas.openxmlformats.org/drawingml/2006/table">
            <a:tbl>
              <a:tblPr firstRow="1" bandRow="1">
                <a:tableStyleId>{073A0DAA-6AF3-43AB-8588-CEC1D06C72B9}</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pPr algn="ctr"/>
                      <a:r>
                        <a:rPr lang="en-US" dirty="0"/>
                        <a:t>80386</a:t>
                      </a:r>
                    </a:p>
                  </a:txBody>
                  <a:tcPr/>
                </a:tc>
                <a:tc>
                  <a:txBody>
                    <a:bodyPr/>
                    <a:lstStyle/>
                    <a:p>
                      <a:pPr algn="ctr"/>
                      <a:r>
                        <a:rPr lang="en-US" dirty="0"/>
                        <a:t>Pentium</a:t>
                      </a:r>
                    </a:p>
                  </a:txBody>
                  <a:tcPr/>
                </a:tc>
                <a:extLst>
                  <a:ext uri="{0D108BD9-81ED-4DB2-BD59-A6C34878D82A}">
                    <a16:rowId xmlns:a16="http://schemas.microsoft.com/office/drawing/2014/main" val="10000"/>
                  </a:ext>
                </a:extLst>
              </a:tr>
              <a:tr h="370840">
                <a:tc>
                  <a:txBody>
                    <a:bodyPr/>
                    <a:lstStyle/>
                    <a:p>
                      <a:pPr algn="ctr"/>
                      <a:r>
                        <a:rPr lang="en-US" dirty="0"/>
                        <a:t>32- bit integer core CPU with 32 bit Data bus</a:t>
                      </a:r>
                    </a:p>
                  </a:txBody>
                  <a:tcPr/>
                </a:tc>
                <a:tc>
                  <a:txBody>
                    <a:bodyPr/>
                    <a:lstStyle/>
                    <a:p>
                      <a:pPr algn="ctr"/>
                      <a:r>
                        <a:rPr lang="en-US" dirty="0"/>
                        <a:t>32 bit CPU with 64-bit data bus</a:t>
                      </a:r>
                    </a:p>
                  </a:txBody>
                  <a:tcPr/>
                </a:tc>
                <a:extLst>
                  <a:ext uri="{0D108BD9-81ED-4DB2-BD59-A6C34878D82A}">
                    <a16:rowId xmlns:a16="http://schemas.microsoft.com/office/drawing/2014/main" val="10001"/>
                  </a:ext>
                </a:extLst>
              </a:tr>
              <a:tr h="370840">
                <a:tc>
                  <a:txBody>
                    <a:bodyPr/>
                    <a:lstStyle/>
                    <a:p>
                      <a:pPr algn="ctr"/>
                      <a:r>
                        <a:rPr lang="en-US" dirty="0"/>
                        <a:t>No superscalar</a:t>
                      </a:r>
                      <a:r>
                        <a:rPr lang="en-US" baseline="0" dirty="0"/>
                        <a:t> architecture and single cycle execution</a:t>
                      </a:r>
                      <a:endParaRPr lang="en-US" dirty="0"/>
                    </a:p>
                  </a:txBody>
                  <a:tcPr/>
                </a:tc>
                <a:tc>
                  <a:txBody>
                    <a:bodyPr/>
                    <a:lstStyle/>
                    <a:p>
                      <a:pPr algn="ctr"/>
                      <a:r>
                        <a:rPr lang="en-US" dirty="0"/>
                        <a:t>Superscalar architecture i.e. two pipelined Integer Units are capable of 2 Instructions</a:t>
                      </a:r>
                      <a:r>
                        <a:rPr lang="en-US" baseline="0" dirty="0"/>
                        <a:t> per clock</a:t>
                      </a:r>
                      <a:endParaRPr lang="en-US" dirty="0"/>
                    </a:p>
                  </a:txBody>
                  <a:tcPr/>
                </a:tc>
                <a:extLst>
                  <a:ext uri="{0D108BD9-81ED-4DB2-BD59-A6C34878D82A}">
                    <a16:rowId xmlns:a16="http://schemas.microsoft.com/office/drawing/2014/main" val="10002"/>
                  </a:ext>
                </a:extLst>
              </a:tr>
              <a:tr h="370840">
                <a:tc>
                  <a:txBody>
                    <a:bodyPr/>
                    <a:lstStyle/>
                    <a:p>
                      <a:pPr algn="ctr"/>
                      <a:r>
                        <a:rPr lang="en-US" dirty="0"/>
                        <a:t>Ni internal cache available for data and code</a:t>
                      </a:r>
                    </a:p>
                  </a:txBody>
                  <a:tcPr/>
                </a:tc>
                <a:tc>
                  <a:txBody>
                    <a:bodyPr/>
                    <a:lstStyle/>
                    <a:p>
                      <a:pPr algn="ctr"/>
                      <a:r>
                        <a:rPr lang="en-US" dirty="0"/>
                        <a:t>Separate</a:t>
                      </a:r>
                      <a:r>
                        <a:rPr lang="en-US" baseline="0" dirty="0"/>
                        <a:t> 8KB code and 8KB data cache available</a:t>
                      </a:r>
                      <a:endParaRPr lang="en-US" dirty="0"/>
                    </a:p>
                  </a:txBody>
                  <a:tcPr/>
                </a:tc>
                <a:extLst>
                  <a:ext uri="{0D108BD9-81ED-4DB2-BD59-A6C34878D82A}">
                    <a16:rowId xmlns:a16="http://schemas.microsoft.com/office/drawing/2014/main" val="10003"/>
                  </a:ext>
                </a:extLst>
              </a:tr>
              <a:tr h="370840">
                <a:tc>
                  <a:txBody>
                    <a:bodyPr/>
                    <a:lstStyle/>
                    <a:p>
                      <a:pPr algn="ctr"/>
                      <a:r>
                        <a:rPr lang="en-US" dirty="0"/>
                        <a:t>80386 does not support branch prediction</a:t>
                      </a:r>
                    </a:p>
                  </a:txBody>
                  <a:tcPr/>
                </a:tc>
                <a:tc>
                  <a:txBody>
                    <a:bodyPr/>
                    <a:lstStyle/>
                    <a:p>
                      <a:pPr algn="ctr"/>
                      <a:r>
                        <a:rPr lang="en-US" dirty="0"/>
                        <a:t>Advanced</a:t>
                      </a:r>
                      <a:r>
                        <a:rPr lang="en-US" baseline="0" dirty="0"/>
                        <a:t> design feature i.e. Dynamic branch Prediction</a:t>
                      </a:r>
                      <a:endParaRPr lang="en-US" dirty="0"/>
                    </a:p>
                  </a:txBody>
                  <a:tcPr/>
                </a:tc>
                <a:extLst>
                  <a:ext uri="{0D108BD9-81ED-4DB2-BD59-A6C34878D82A}">
                    <a16:rowId xmlns:a16="http://schemas.microsoft.com/office/drawing/2014/main" val="10004"/>
                  </a:ext>
                </a:extLst>
              </a:tr>
              <a:tr h="370840">
                <a:tc>
                  <a:txBody>
                    <a:bodyPr/>
                    <a:lstStyle/>
                    <a:p>
                      <a:pPr algn="ctr"/>
                      <a:r>
                        <a:rPr lang="en-US" dirty="0"/>
                        <a:t>One integer </a:t>
                      </a:r>
                      <a:r>
                        <a:rPr lang="en-US" dirty="0" err="1"/>
                        <a:t>Alu</a:t>
                      </a:r>
                      <a:endParaRPr lang="en-US" dirty="0"/>
                    </a:p>
                  </a:txBody>
                  <a:tcPr/>
                </a:tc>
                <a:tc>
                  <a:txBody>
                    <a:bodyPr/>
                    <a:lstStyle/>
                    <a:p>
                      <a:pPr algn="ctr"/>
                      <a:r>
                        <a:rPr lang="en-US" dirty="0"/>
                        <a:t>Two integer ALU</a:t>
                      </a:r>
                    </a:p>
                  </a:txBody>
                  <a:tcPr/>
                </a:tc>
                <a:extLst>
                  <a:ext uri="{0D108BD9-81ED-4DB2-BD59-A6C34878D82A}">
                    <a16:rowId xmlns:a16="http://schemas.microsoft.com/office/drawing/2014/main" val="10005"/>
                  </a:ext>
                </a:extLst>
              </a:tr>
              <a:tr h="370840">
                <a:tc>
                  <a:txBody>
                    <a:bodyPr/>
                    <a:lstStyle/>
                    <a:p>
                      <a:pPr algn="ctr"/>
                      <a:r>
                        <a:rPr lang="en-US" dirty="0"/>
                        <a:t>Operating frequency are 20 MHz to 66 MHz</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Operating frequency 60 MHz and</a:t>
                      </a:r>
                      <a:r>
                        <a:rPr lang="en-US" baseline="0" dirty="0"/>
                        <a:t> more</a:t>
                      </a:r>
                      <a:endParaRPr lang="en-US" dirty="0"/>
                    </a:p>
                  </a:txBody>
                  <a:tcPr/>
                </a:tc>
                <a:extLst>
                  <a:ext uri="{0D108BD9-81ED-4DB2-BD59-A6C34878D82A}">
                    <a16:rowId xmlns:a16="http://schemas.microsoft.com/office/drawing/2014/main" val="10006"/>
                  </a:ext>
                </a:extLst>
              </a:tr>
              <a:tr h="370840">
                <a:tc>
                  <a:txBody>
                    <a:bodyPr/>
                    <a:lstStyle/>
                    <a:p>
                      <a:pPr algn="ctr"/>
                      <a:r>
                        <a:rPr lang="en-US" dirty="0"/>
                        <a:t>FPU is non- pipelined as it is an external device 80387</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FPU is pipelined as it</a:t>
                      </a:r>
                      <a:r>
                        <a:rPr lang="en-US" baseline="0" dirty="0"/>
                        <a:t> is in built in </a:t>
                      </a:r>
                      <a:r>
                        <a:rPr lang="en-US" baseline="0" dirty="0" err="1"/>
                        <a:t>pentium</a:t>
                      </a:r>
                      <a:endParaRPr 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916782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7449</TotalTime>
  <Words>1594</Words>
  <Application>Microsoft Office PowerPoint</Application>
  <PresentationFormat>On-screen Show (4:3)</PresentationFormat>
  <Paragraphs>108</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Arial</vt:lpstr>
      <vt:lpstr>Calibri</vt:lpstr>
      <vt:lpstr>Times New Roman</vt:lpstr>
      <vt:lpstr>Office Theme</vt:lpstr>
      <vt:lpstr>Introduction to Pentium Processor</vt:lpstr>
      <vt:lpstr>Features of Pentium Processor</vt:lpstr>
      <vt:lpstr>Salient Features</vt:lpstr>
      <vt:lpstr>PowerPoint Presentation</vt:lpstr>
      <vt:lpstr>PowerPoint Presentation</vt:lpstr>
      <vt:lpstr>Superscalar Execution</vt:lpstr>
      <vt:lpstr>PowerPoint Presentation</vt:lpstr>
      <vt:lpstr>PowerPoint Presentation</vt:lpstr>
      <vt:lpstr>PowerPoint Presentation</vt:lpstr>
      <vt:lpstr>PowerPoint Presentation</vt:lpstr>
      <vt:lpstr>Separate Code and Data Caches:</vt:lpstr>
      <vt:lpstr>Advantages of having Separate Code and Data Caches</vt:lpstr>
      <vt:lpstr>Branch Prediction</vt:lpstr>
      <vt:lpstr>PowerPoint Presentation</vt:lpstr>
      <vt:lpstr>PowerPoint Presentation</vt:lpstr>
      <vt:lpstr>Floating point Unit</vt:lpstr>
      <vt:lpstr>Floating Point Pipeline</vt:lpstr>
      <vt:lpstr>PowerPoint Presentation</vt:lpstr>
      <vt:lpstr>PowerPoint Presentation</vt:lpstr>
      <vt:lpstr>Floating point Exception</vt:lpstr>
      <vt:lpstr>PowerPoint Presentation</vt:lpstr>
      <vt:lpstr>Comparison of 80386 and Pentium</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om</dc:creator>
  <cp:lastModifiedBy>CSEJU</cp:lastModifiedBy>
  <cp:revision>130</cp:revision>
  <dcterms:created xsi:type="dcterms:W3CDTF">2017-02-03T02:51:36Z</dcterms:created>
  <dcterms:modified xsi:type="dcterms:W3CDTF">2025-04-07T14:58:37Z</dcterms:modified>
</cp:coreProperties>
</file>